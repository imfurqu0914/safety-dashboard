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9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0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1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4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5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6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7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8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9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30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1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2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6600"/>
    <a:srgbClr val="EE3900"/>
    <a:srgbClr val="AAD292"/>
    <a:srgbClr val="7CBF33"/>
    <a:srgbClr val="203864"/>
    <a:srgbClr val="2B5276"/>
    <a:srgbClr val="1B456B"/>
    <a:srgbClr val="27457B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71F9D-067F-40BF-85DD-6AF5F03D6784}" v="3312" dt="2020-06-09T23:00:33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43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43" y="269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chartColorStyle" Target="colors3.xml"/><Relationship Id="rId1" Type="http://schemas.microsoft.com/office/2011/relationships/chartStyle" Target="style3.xml"/><Relationship Id="rId6" Type="http://schemas.openxmlformats.org/officeDocument/2006/relationships/oleObject" Target="file:///C:\Users\Khaled%20Ismail\Documents\Safety%20Dashboard.xlsx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haled%20Ismail\Documents\Safety%20Dashboard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microsoft.com/office/2011/relationships/chartColorStyle" Target="colors18.xml"/><Relationship Id="rId1" Type="http://schemas.microsoft.com/office/2011/relationships/chartStyle" Target="style18.xml"/><Relationship Id="rId5" Type="http://schemas.openxmlformats.org/officeDocument/2006/relationships/oleObject" Target="file:///C:\Users\Khaled%20Ismail\Documents\Safety%20Dashboard\Safety%20Dashboard%202.xlsx" TargetMode="External"/><Relationship Id="rId4" Type="http://schemas.openxmlformats.org/officeDocument/2006/relationships/image" Target="../media/image25.png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haled%20Ismail\Documents\Safety%20Dashboard\Safety%20Dashboard%202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6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08-42CF-B7CC-72CFE48D27CB}"/>
              </c:ext>
            </c:extLst>
          </c:dPt>
          <c:dPt>
            <c:idx val="1"/>
            <c:invertIfNegative val="0"/>
            <c:bubble3D val="0"/>
            <c:spPr>
              <a:solidFill>
                <a:srgbClr val="FF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408-42CF-B7CC-72CFE48D27C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Sheet1!$A$4:$A$6</c:f>
              <c:strCache>
                <c:ptCount val="3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</c:strCache>
            </c:strRef>
          </c:cat>
          <c:val>
            <c:numRef>
              <c:f>Sheet1!$B$4:$B$6</c:f>
              <c:numCache>
                <c:formatCode>General</c:formatCode>
                <c:ptCount val="3"/>
                <c:pt idx="0">
                  <c:v>100</c:v>
                </c:pt>
                <c:pt idx="1">
                  <c:v>400</c:v>
                </c:pt>
                <c:pt idx="2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08-42CF-B7CC-72CFE48D27CB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Sheet1!$A$4:$A$6</c:f>
              <c:strCache>
                <c:ptCount val="3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</c:strCache>
            </c:strRef>
          </c:cat>
          <c:val>
            <c:numRef>
              <c:f>Sheet1!$C$4:$C$6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0408-42CF-B7CC-72CFE48D27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7"/>
        <c:overlap val="-5"/>
        <c:axId val="442245039"/>
        <c:axId val="317563263"/>
      </c:barChart>
      <c:catAx>
        <c:axId val="442245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317563263"/>
        <c:crosses val="autoZero"/>
        <c:auto val="1"/>
        <c:lblAlgn val="ctr"/>
        <c:lblOffset val="100"/>
        <c:noMultiLvlLbl val="0"/>
      </c:catAx>
      <c:valAx>
        <c:axId val="3175632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224503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111111111111112E-2"/>
          <c:y val="3.2407407407407406E-2"/>
          <c:w val="0.98888888888888893"/>
          <c:h val="0.96759259259259256"/>
        </c:manualLayout>
      </c:layout>
      <c:barChart>
        <c:barDir val="col"/>
        <c:grouping val="clustered"/>
        <c:varyColors val="0"/>
        <c:ser>
          <c:idx val="0"/>
          <c:order val="0"/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72728119180633144"/>
                      <c:h val="0.9196642685851319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19D-4316-9988-D9C8ACC0BC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FF6600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</c:f>
              <c:strCache>
                <c:ptCount val="1"/>
                <c:pt idx="0">
                  <c:v>Total </c:v>
                </c:pt>
              </c:strCache>
            </c:strRef>
          </c:cat>
          <c:val>
            <c:numRef>
              <c:f>Sheet1!$B$7</c:f>
              <c:numCache>
                <c:formatCode>General</c:formatCode>
                <c:ptCount val="1"/>
                <c:pt idx="0">
                  <c:v>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9D-4316-9988-D9C8ACC0B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7900736"/>
        <c:axId val="1233961792"/>
      </c:barChart>
      <c:catAx>
        <c:axId val="1767900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3961792"/>
        <c:crosses val="autoZero"/>
        <c:auto val="1"/>
        <c:lblAlgn val="ctr"/>
        <c:lblOffset val="100"/>
        <c:noMultiLvlLbl val="0"/>
      </c:catAx>
      <c:valAx>
        <c:axId val="1233961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6790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1">
          <a:solidFill>
            <a:schemeClr val="bg1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4C-488E-BAF7-178EFCC6FE64}"/>
              </c:ext>
            </c:extLst>
          </c:dPt>
          <c:dPt>
            <c:idx val="2"/>
            <c:invertIfNegative val="0"/>
            <c:bubble3D val="0"/>
            <c:spPr>
              <a:blipFill>
                <a:blip xmlns:r="http://schemas.openxmlformats.org/officeDocument/2006/relationships" r:embed="rId5"/>
                <a:stretch>
                  <a:fillRect/>
                </a:stretch>
              </a:blip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34C-488E-BAF7-178EFCC6FE6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Sheet1!$A$10:$A$12</c:f>
              <c:strCache>
                <c:ptCount val="3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</c:strCache>
            </c:strRef>
          </c:cat>
          <c:val>
            <c:numRef>
              <c:f>Sheet1!$B$10:$B$12</c:f>
              <c:numCache>
                <c:formatCode>General</c:formatCode>
                <c:ptCount val="3"/>
                <c:pt idx="0">
                  <c:v>45000</c:v>
                </c:pt>
                <c:pt idx="1">
                  <c:v>120000</c:v>
                </c:pt>
                <c:pt idx="2">
                  <c:v>69000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4C-488E-BAF7-178EFCC6FE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94"/>
        <c:axId val="1767896736"/>
        <c:axId val="175814416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Sheet1!$A$10:$A$12</c15:sqref>
                        </c15:formulaRef>
                      </c:ext>
                    </c:extLst>
                    <c:strCache>
                      <c:ptCount val="3"/>
                      <c:pt idx="0">
                        <c:v>Company A</c:v>
                      </c:pt>
                      <c:pt idx="1">
                        <c:v>Company B</c:v>
                      </c:pt>
                      <c:pt idx="2">
                        <c:v>Company C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Sheet1!$C$10:$C$12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034C-488E-BAF7-178EFCC6FE64}"/>
                  </c:ext>
                </c:extLst>
              </c15:ser>
            </c15:filteredBarSeries>
          </c:ext>
        </c:extLst>
      </c:barChart>
      <c:catAx>
        <c:axId val="1767896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8144160"/>
        <c:crosses val="autoZero"/>
        <c:auto val="1"/>
        <c:lblAlgn val="ctr"/>
        <c:lblOffset val="100"/>
        <c:noMultiLvlLbl val="0"/>
      </c:catAx>
      <c:valAx>
        <c:axId val="17581441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7896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6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031412408110342"/>
          <c:y val="3.2407407407407406E-2"/>
          <c:w val="0.54400194497600152"/>
          <c:h val="0.758513720731145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43-47DA-BAF8-87860D9428B2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74176673183813713"/>
                      <c:h val="0.8728002522519451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243-47DA-BAF8-87860D9428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 rtl="0">
                  <a:defRPr sz="1600" b="1" i="0" u="none" strike="noStrike" kern="1200" baseline="0">
                    <a:solidFill>
                      <a:srgbClr val="FF6600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Sheet1!$B$13</c:f>
              <c:numCache>
                <c:formatCode>General</c:formatCode>
                <c:ptCount val="1"/>
                <c:pt idx="0">
                  <c:v>234000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43-47DA-BAF8-87860D9428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7900736"/>
        <c:axId val="1233961792"/>
      </c:barChart>
      <c:catAx>
        <c:axId val="1767900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3961792"/>
        <c:crosses val="autoZero"/>
        <c:auto val="1"/>
        <c:lblAlgn val="ctr"/>
        <c:lblOffset val="100"/>
        <c:noMultiLvlLbl val="0"/>
      </c:catAx>
      <c:valAx>
        <c:axId val="1233961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6790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1">
          <a:solidFill>
            <a:srgbClr val="FFC000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066257923558958"/>
          <c:y val="0.17314037346968192"/>
          <c:w val="0.37679774959708262"/>
          <c:h val="0.82470938014296957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gradFill>
                <a:gsLst>
                  <a:gs pos="12000">
                    <a:srgbClr val="92D050"/>
                  </a:gs>
                  <a:gs pos="53000">
                    <a:srgbClr val="339933"/>
                  </a:gs>
                </a:gsLst>
                <a:lin ang="5400000" scaled="1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C1-461B-80C8-27E8FA99EB38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C1-461B-80C8-27E8FA99EB38}"/>
              </c:ext>
            </c:extLst>
          </c:dPt>
          <c:cat>
            <c:strRef>
              <c:f>Sheet1!$A$38:$A$39</c:f>
              <c:strCache>
                <c:ptCount val="2"/>
                <c:pt idx="0">
                  <c:v>Postive </c:v>
                </c:pt>
                <c:pt idx="1">
                  <c:v>Negative </c:v>
                </c:pt>
              </c:strCache>
            </c:strRef>
          </c:cat>
          <c:val>
            <c:numRef>
              <c:f>Sheet1!$B$38:$B$39</c:f>
              <c:numCache>
                <c:formatCode>General</c:formatCode>
                <c:ptCount val="2"/>
                <c:pt idx="0">
                  <c:v>200</c:v>
                </c:pt>
                <c:pt idx="1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C1-461B-80C8-27E8FA99E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279882589774318"/>
          <c:y val="0.1669060715673672"/>
          <c:w val="0.4867722332360862"/>
          <c:h val="0.71364533197811719"/>
        </c:manualLayout>
      </c:layout>
      <c:doughnutChart>
        <c:varyColors val="1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A05-4D6B-AFAD-4E4C27D6967A}"/>
              </c:ext>
            </c:extLst>
          </c:dPt>
          <c:dPt>
            <c:idx val="1"/>
            <c:bubble3D val="0"/>
            <c:spPr>
              <a:gradFill>
                <a:gsLst>
                  <a:gs pos="46000">
                    <a:srgbClr val="FF0066"/>
                  </a:gs>
                  <a:gs pos="81000">
                    <a:srgbClr val="FF6600"/>
                  </a:gs>
                </a:gsLst>
                <a:lin ang="5400000" scaled="1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A05-4D6B-AFAD-4E4C27D6967A}"/>
              </c:ext>
            </c:extLst>
          </c:dPt>
          <c:cat>
            <c:strRef>
              <c:f>Sheet1!$A$38:$A$39</c:f>
              <c:strCache>
                <c:ptCount val="2"/>
                <c:pt idx="0">
                  <c:v>Postive </c:v>
                </c:pt>
                <c:pt idx="1">
                  <c:v>Negative </c:v>
                </c:pt>
              </c:strCache>
            </c:strRef>
          </c:cat>
          <c:val>
            <c:numRef>
              <c:f>Sheet1!$B$38:$B$39</c:f>
              <c:numCache>
                <c:formatCode>General</c:formatCode>
                <c:ptCount val="2"/>
                <c:pt idx="0">
                  <c:v>200</c:v>
                </c:pt>
                <c:pt idx="1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05-4D6B-AFAD-4E4C27D69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452038997081043E-2"/>
          <c:y val="4.3043684397219735E-2"/>
          <c:w val="0.89964530998162384"/>
          <c:h val="0.55806503339273061"/>
        </c:manualLayout>
      </c:layout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F7-47AD-A925-18DE2F3F1DB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F7-47AD-A925-18DE2F3F1DB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EF7-47AD-A925-18DE2F3F1DB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EF7-47AD-A925-18DE2F3F1DB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EF7-47AD-A925-18DE2F3F1DB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EF7-47AD-A925-18DE2F3F1DBD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EF7-47AD-A925-18DE2F3F1DBD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EF7-47AD-A925-18DE2F3F1DBD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EF7-47AD-A925-18DE2F3F1DBD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EF7-47AD-A925-18DE2F3F1DBD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EF7-47AD-A925-18DE2F3F1DBD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EF7-47AD-A925-18DE2F3F1DBD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BEF7-47AD-A925-18DE2F3F1DBD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BEF7-47AD-A925-18DE2F3F1DBD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BEF7-47AD-A925-18DE2F3F1DBD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BEF7-47AD-A925-18DE2F3F1DBD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BEF7-47AD-A925-18DE2F3F1DBD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BEF7-47AD-A925-18DE2F3F1DBD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BEF7-47AD-A925-18DE2F3F1DBD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BEF7-47AD-A925-18DE2F3F1DBD}"/>
              </c:ext>
            </c:extLst>
          </c:dPt>
          <c:dPt>
            <c:idx val="20"/>
            <c:invertIfNegative val="0"/>
            <c:bubble3D val="0"/>
            <c:spPr>
              <a:solidFill>
                <a:schemeClr val="accent3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BEF7-47AD-A925-18DE2F3F1DBD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4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BEF7-47AD-A925-18DE2F3F1D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Sheet1!$A$41:$A$62</c:f>
              <c:strCache>
                <c:ptCount val="22"/>
                <c:pt idx="0">
                  <c:v>Work permit </c:v>
                </c:pt>
                <c:pt idx="1">
                  <c:v>Traffic</c:v>
                </c:pt>
                <c:pt idx="2">
                  <c:v>Signage </c:v>
                </c:pt>
                <c:pt idx="3">
                  <c:v>Scaffold</c:v>
                </c:pt>
                <c:pt idx="4">
                  <c:v>Rigging</c:v>
                </c:pt>
                <c:pt idx="5">
                  <c:v>Rebar caps</c:v>
                </c:pt>
                <c:pt idx="6">
                  <c:v>PTW</c:v>
                </c:pt>
                <c:pt idx="7">
                  <c:v>PPE</c:v>
                </c:pt>
                <c:pt idx="8">
                  <c:v>Power Tools</c:v>
                </c:pt>
                <c:pt idx="9">
                  <c:v>Manual handling</c:v>
                </c:pt>
                <c:pt idx="10">
                  <c:v>houskeeping</c:v>
                </c:pt>
                <c:pt idx="11">
                  <c:v>Heavy Equipment</c:v>
                </c:pt>
                <c:pt idx="12">
                  <c:v>Lifting</c:v>
                </c:pt>
                <c:pt idx="13">
                  <c:v>Welding </c:v>
                </c:pt>
                <c:pt idx="14">
                  <c:v>Fire Equipment</c:v>
                </c:pt>
                <c:pt idx="15">
                  <c:v>Health</c:v>
                </c:pt>
                <c:pt idx="16">
                  <c:v>falls</c:v>
                </c:pt>
                <c:pt idx="17">
                  <c:v>excavation</c:v>
                </c:pt>
                <c:pt idx="18">
                  <c:v>Driving</c:v>
                </c:pt>
                <c:pt idx="19">
                  <c:v>Electrical</c:v>
                </c:pt>
                <c:pt idx="20">
                  <c:v>Confiend space</c:v>
                </c:pt>
                <c:pt idx="21">
                  <c:v>CGC</c:v>
                </c:pt>
              </c:strCache>
            </c:strRef>
          </c:cat>
          <c:val>
            <c:numRef>
              <c:f>Sheet1!$B$41:$B$62</c:f>
              <c:numCache>
                <c:formatCode>General</c:formatCode>
                <c:ptCount val="22"/>
                <c:pt idx="0">
                  <c:v>20</c:v>
                </c:pt>
                <c:pt idx="1">
                  <c:v>2</c:v>
                </c:pt>
                <c:pt idx="2">
                  <c:v>40</c:v>
                </c:pt>
                <c:pt idx="3">
                  <c:v>15</c:v>
                </c:pt>
                <c:pt idx="4">
                  <c:v>25</c:v>
                </c:pt>
                <c:pt idx="5">
                  <c:v>13</c:v>
                </c:pt>
                <c:pt idx="6">
                  <c:v>13</c:v>
                </c:pt>
                <c:pt idx="7">
                  <c:v>90</c:v>
                </c:pt>
                <c:pt idx="8">
                  <c:v>41</c:v>
                </c:pt>
                <c:pt idx="9">
                  <c:v>7</c:v>
                </c:pt>
                <c:pt idx="10">
                  <c:v>40</c:v>
                </c:pt>
                <c:pt idx="11">
                  <c:v>35</c:v>
                </c:pt>
                <c:pt idx="12">
                  <c:v>12</c:v>
                </c:pt>
                <c:pt idx="13">
                  <c:v>2</c:v>
                </c:pt>
                <c:pt idx="14">
                  <c:v>10</c:v>
                </c:pt>
                <c:pt idx="15">
                  <c:v>2</c:v>
                </c:pt>
                <c:pt idx="16">
                  <c:v>4</c:v>
                </c:pt>
                <c:pt idx="17">
                  <c:v>5</c:v>
                </c:pt>
                <c:pt idx="18">
                  <c:v>13</c:v>
                </c:pt>
                <c:pt idx="19">
                  <c:v>11</c:v>
                </c:pt>
                <c:pt idx="20">
                  <c:v>7</c:v>
                </c:pt>
                <c:pt idx="2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B9-4103-8E99-7AC2C65533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3790432"/>
        <c:axId val="1838053392"/>
      </c:barChart>
      <c:catAx>
        <c:axId val="1883790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1838053392"/>
        <c:crosses val="autoZero"/>
        <c:auto val="1"/>
        <c:lblAlgn val="ctr"/>
        <c:lblOffset val="100"/>
        <c:noMultiLvlLbl val="0"/>
      </c:catAx>
      <c:valAx>
        <c:axId val="18380533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3790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gradFill>
                <a:gsLst>
                  <a:gs pos="3000">
                    <a:schemeClr val="accent2">
                      <a:lumMod val="60000"/>
                      <a:lumOff val="40000"/>
                    </a:schemeClr>
                  </a:gs>
                  <a:gs pos="31000">
                    <a:srgbClr val="FFC000"/>
                  </a:gs>
                  <a:gs pos="55000">
                    <a:srgbClr val="EE3900"/>
                  </a:gs>
                  <a:gs pos="100000">
                    <a:srgbClr val="FF0066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Sheet1!$A$66:$A$69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Sheet1!$B$66:$B$69</c:f>
              <c:numCache>
                <c:formatCode>General</c:formatCode>
                <c:ptCount val="4"/>
                <c:pt idx="0">
                  <c:v>0.2</c:v>
                </c:pt>
                <c:pt idx="1">
                  <c:v>0.1</c:v>
                </c:pt>
                <c:pt idx="2">
                  <c:v>0.3</c:v>
                </c:pt>
                <c:pt idx="3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A4-4F00-8A0D-A4201BD10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32739648"/>
        <c:axId val="1759271904"/>
      </c:lineChart>
      <c:catAx>
        <c:axId val="183273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9271904"/>
        <c:crosses val="autoZero"/>
        <c:auto val="1"/>
        <c:lblAlgn val="ctr"/>
        <c:lblOffset val="100"/>
        <c:noMultiLvlLbl val="0"/>
      </c:catAx>
      <c:valAx>
        <c:axId val="1759271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273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gradFill>
                <a:gsLst>
                  <a:gs pos="0">
                    <a:srgbClr val="EE3900"/>
                  </a:gs>
                  <a:gs pos="100000">
                    <a:srgbClr val="FF6600"/>
                  </a:gs>
                </a:gsLst>
                <a:lin ang="5400000" scaled="1"/>
              </a:gra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Sheet1!$A$72:$A$75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xVal>
          <c:yVal>
            <c:numRef>
              <c:f>Sheet1!$B$72:$B$75</c:f>
              <c:numCache>
                <c:formatCode>General</c:formatCode>
                <c:ptCount val="4"/>
                <c:pt idx="0">
                  <c:v>4</c:v>
                </c:pt>
                <c:pt idx="1">
                  <c:v>2.5</c:v>
                </c:pt>
                <c:pt idx="2">
                  <c:v>3.5</c:v>
                </c:pt>
                <c:pt idx="3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FD4-4A88-B3D6-73D3A4741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73240000"/>
        <c:axId val="1758139584"/>
      </c:scatterChart>
      <c:valAx>
        <c:axId val="1773240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8139584"/>
        <c:crosses val="autoZero"/>
        <c:crossBetween val="midCat"/>
      </c:valAx>
      <c:valAx>
        <c:axId val="17581395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3240000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58-45E4-BAAE-916D2A03951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E58-45E4-BAAE-916D2A03951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E58-45E4-BAAE-916D2A03951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E58-45E4-BAAE-916D2A03951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E58-45E4-BAAE-916D2A03951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E58-45E4-BAAE-916D2A039517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E58-45E4-BAAE-916D2A0395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Sheet1!$A$78:$A$84</c:f>
              <c:strCache>
                <c:ptCount val="7"/>
                <c:pt idx="0">
                  <c:v>Working At height</c:v>
                </c:pt>
                <c:pt idx="1">
                  <c:v>Work Permit</c:v>
                </c:pt>
                <c:pt idx="2">
                  <c:v>Confiend Space</c:v>
                </c:pt>
                <c:pt idx="3">
                  <c:v>Lifting</c:v>
                </c:pt>
                <c:pt idx="4">
                  <c:v>Excavation</c:v>
                </c:pt>
                <c:pt idx="5">
                  <c:v>Welding and Cutting</c:v>
                </c:pt>
                <c:pt idx="6">
                  <c:v>Scaffolding</c:v>
                </c:pt>
              </c:strCache>
            </c:strRef>
          </c:cat>
          <c:val>
            <c:numRef>
              <c:f>Sheet1!$B$78:$B$84</c:f>
              <c:numCache>
                <c:formatCode>General</c:formatCode>
                <c:ptCount val="7"/>
                <c:pt idx="0">
                  <c:v>140</c:v>
                </c:pt>
                <c:pt idx="1">
                  <c:v>230</c:v>
                </c:pt>
                <c:pt idx="2">
                  <c:v>110</c:v>
                </c:pt>
                <c:pt idx="3">
                  <c:v>88</c:v>
                </c:pt>
                <c:pt idx="4">
                  <c:v>90</c:v>
                </c:pt>
                <c:pt idx="5">
                  <c:v>170</c:v>
                </c:pt>
                <c:pt idx="6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E8-4E53-9F0E-649924EADA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22269904"/>
        <c:axId val="1874677248"/>
      </c:barChart>
      <c:catAx>
        <c:axId val="1922269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4677248"/>
        <c:crosses val="autoZero"/>
        <c:auto val="1"/>
        <c:lblAlgn val="ctr"/>
        <c:lblOffset val="100"/>
        <c:noMultiLvlLbl val="0"/>
      </c:catAx>
      <c:valAx>
        <c:axId val="187467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226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031412408110342"/>
          <c:y val="3.2407407407407406E-2"/>
          <c:w val="0.54400194497600152"/>
          <c:h val="0.7585137207311452"/>
        </c:manualLayout>
      </c:layout>
      <c:barChart>
        <c:barDir val="col"/>
        <c:grouping val="clustered"/>
        <c:varyColors val="0"/>
        <c:ser>
          <c:idx val="0"/>
          <c:order val="0"/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6828828828828826"/>
                      <c:h val="0.9528985507246376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AAFA-4EF3-B4D4-F0C1B19C8C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FF6600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Sheet1!$B$40</c:f>
              <c:numCache>
                <c:formatCode>General</c:formatCode>
                <c:ptCount val="1"/>
                <c:pt idx="0">
                  <c:v>445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FA-4EF3-B4D4-F0C1B19C8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7900736"/>
        <c:axId val="1233961792"/>
      </c:barChart>
      <c:catAx>
        <c:axId val="1767900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3961792"/>
        <c:crosses val="autoZero"/>
        <c:auto val="1"/>
        <c:lblAlgn val="ctr"/>
        <c:lblOffset val="100"/>
        <c:noMultiLvlLbl val="0"/>
      </c:catAx>
      <c:valAx>
        <c:axId val="1233961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6790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000" b="1">
          <a:solidFill>
            <a:srgbClr val="FF6600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03141404199475"/>
          <c:y val="0.20422721000081173"/>
          <c:w val="0.54400194497600152"/>
          <c:h val="0.7585137207311452"/>
        </c:manualLayout>
      </c:layout>
      <c:barChart>
        <c:barDir val="col"/>
        <c:grouping val="clustered"/>
        <c:varyColors val="0"/>
        <c:ser>
          <c:idx val="0"/>
          <c:order val="0"/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3725030091694806E-2"/>
                  <c:y val="0.1953593340716909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400" b="1" i="0" u="none" strike="noStrike" kern="1200" baseline="0">
                        <a:solidFill>
                          <a:srgbClr val="FF66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3D04D1F-1875-4C9D-B248-7CAAFA24D70F}" type="VALUE">
                      <a:rPr lang="en-US" sz="2000">
                        <a:latin typeface="Oswald" panose="02000503000000000000" pitchFamily="2" charset="0"/>
                      </a:rPr>
                      <a:pPr>
                        <a:defRPr sz="2400"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rgbClr val="FF66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9048671508492667"/>
                      <c:h val="0.6650998540864582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35E-45A5-854D-F86128553C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rgbClr val="FF66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Sheet1!$B$85</c:f>
              <c:numCache>
                <c:formatCode>General</c:formatCode>
                <c:ptCount val="1"/>
                <c:pt idx="0">
                  <c:v>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5E-45A5-854D-F86128553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7900736"/>
        <c:axId val="1233961792"/>
      </c:barChart>
      <c:catAx>
        <c:axId val="1767900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3961792"/>
        <c:crosses val="autoZero"/>
        <c:auto val="1"/>
        <c:lblAlgn val="ctr"/>
        <c:lblOffset val="100"/>
        <c:noMultiLvlLbl val="0"/>
      </c:catAx>
      <c:valAx>
        <c:axId val="12339617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6790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1">
          <a:solidFill>
            <a:srgbClr val="FF6600"/>
          </a:solidFill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500881834215165E-2"/>
          <c:y val="0.31609195402298851"/>
          <c:w val="0.90299823633156961"/>
          <c:h val="0.655172413793103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Sheet1!$A$63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rgbClr val="FF6600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Sheet1!$B$63</c:f>
              <c:numCache>
                <c:formatCode>General</c:formatCode>
                <c:ptCount val="1"/>
                <c:pt idx="0">
                  <c:v>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01-4E72-8D2C-D7670EC5B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6093183"/>
        <c:axId val="135499791"/>
      </c:barChart>
      <c:catAx>
        <c:axId val="636093183"/>
        <c:scaling>
          <c:orientation val="minMax"/>
        </c:scaling>
        <c:delete val="1"/>
        <c:axPos val="b"/>
        <c:majorTickMark val="none"/>
        <c:minorTickMark val="none"/>
        <c:tickLblPos val="nextTo"/>
        <c:crossAx val="135499791"/>
        <c:crosses val="autoZero"/>
        <c:auto val="1"/>
        <c:lblAlgn val="ctr"/>
        <c:lblOffset val="100"/>
        <c:noMultiLvlLbl val="0"/>
      </c:catAx>
      <c:valAx>
        <c:axId val="1354997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36093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400" b="1">
          <a:solidFill>
            <a:srgbClr val="FF6600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KPI!$A$38</c:f>
              <c:strCache>
                <c:ptCount val="1"/>
                <c:pt idx="0">
                  <c:v>Postive 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9023538392362311"/>
                      <c:h val="0.6764847190711330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152-406A-975C-3CD67AD353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KPI!$B$38</c:f>
              <c:numCache>
                <c:formatCode>General</c:formatCode>
                <c:ptCount val="1"/>
                <c:pt idx="0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52-406A-975C-3CD67AD35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7127424"/>
        <c:axId val="197593408"/>
      </c:barChart>
      <c:catAx>
        <c:axId val="287127424"/>
        <c:scaling>
          <c:orientation val="minMax"/>
        </c:scaling>
        <c:delete val="1"/>
        <c:axPos val="b"/>
        <c:majorTickMark val="none"/>
        <c:minorTickMark val="none"/>
        <c:tickLblPos val="nextTo"/>
        <c:crossAx val="197593408"/>
        <c:crosses val="autoZero"/>
        <c:auto val="1"/>
        <c:lblAlgn val="ctr"/>
        <c:lblOffset val="100"/>
        <c:noMultiLvlLbl val="0"/>
      </c:catAx>
      <c:valAx>
        <c:axId val="1975934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7127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1">
          <a:solidFill>
            <a:schemeClr val="bg1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15168489844813"/>
          <c:y val="0"/>
          <c:w val="0.81666666666666665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KPI!$A$39</c:f>
              <c:strCache>
                <c:ptCount val="1"/>
                <c:pt idx="0">
                  <c:v>Negative 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FAA-41A8-9CA4-FA01FE72DDA9}"/>
              </c:ext>
            </c:extLst>
          </c:dPt>
          <c:dLbls>
            <c:dLbl>
              <c:idx val="0"/>
              <c:layout>
                <c:manualLayout>
                  <c:x val="4.4742729306487698E-2"/>
                  <c:y val="0.140845070422535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Oswald" panose="02000503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0688357351557467"/>
                      <c:h val="0.406244277604834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FAA-41A8-9CA4-FA01FE72DD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KPI!$B$39</c:f>
              <c:numCache>
                <c:formatCode>General</c:formatCode>
                <c:ptCount val="1"/>
                <c:pt idx="0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AA-41A8-9CA4-FA01FE72D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7127424"/>
        <c:axId val="197593408"/>
      </c:barChart>
      <c:catAx>
        <c:axId val="287127424"/>
        <c:scaling>
          <c:orientation val="minMax"/>
        </c:scaling>
        <c:delete val="1"/>
        <c:axPos val="b"/>
        <c:majorTickMark val="none"/>
        <c:minorTickMark val="none"/>
        <c:tickLblPos val="nextTo"/>
        <c:crossAx val="197593408"/>
        <c:crosses val="autoZero"/>
        <c:auto val="1"/>
        <c:lblAlgn val="ctr"/>
        <c:lblOffset val="100"/>
        <c:noMultiLvlLbl val="0"/>
      </c:catAx>
      <c:valAx>
        <c:axId val="1975934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7127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400" b="1">
          <a:solidFill>
            <a:schemeClr val="bg1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182086614173235E-2"/>
          <c:y val="0"/>
          <c:w val="0.9069373942470389"/>
          <c:h val="0.97685185185185186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8A-4ADA-B92B-6FB26C15C04D}"/>
              </c:ext>
            </c:extLst>
          </c:dPt>
          <c:dLbls>
            <c:dLbl>
              <c:idx val="0"/>
              <c:layout>
                <c:manualLayout>
                  <c:x val="-0.14835075342739518"/>
                  <c:y val="4.70162583843680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8203298826225389"/>
                      <c:h val="0.472171186934966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78A-4ADA-B92B-6FB26C15C0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FF6600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KPI!$B$1</c:f>
              <c:numCache>
                <c:formatCode>[$-409]mmmm\ d\,\ yyyy;@</c:formatCode>
                <c:ptCount val="1"/>
                <c:pt idx="0">
                  <c:v>43993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8A-4ADA-B92B-6FB26C15C0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89403104"/>
        <c:axId val="1775145504"/>
      </c:barChart>
      <c:catAx>
        <c:axId val="1889403104"/>
        <c:scaling>
          <c:orientation val="minMax"/>
        </c:scaling>
        <c:delete val="1"/>
        <c:axPos val="l"/>
        <c:majorTickMark val="none"/>
        <c:minorTickMark val="none"/>
        <c:tickLblPos val="nextTo"/>
        <c:crossAx val="1775145504"/>
        <c:crosses val="autoZero"/>
        <c:auto val="1"/>
        <c:lblAlgn val="ctr"/>
        <c:lblOffset val="100"/>
        <c:noMultiLvlLbl val="0"/>
      </c:catAx>
      <c:valAx>
        <c:axId val="1775145504"/>
        <c:scaling>
          <c:orientation val="minMax"/>
        </c:scaling>
        <c:delete val="1"/>
        <c:axPos val="b"/>
        <c:numFmt formatCode="[$-409]mmmm\ d\,\ yyyy;@" sourceLinked="1"/>
        <c:majorTickMark val="none"/>
        <c:minorTickMark val="none"/>
        <c:tickLblPos val="nextTo"/>
        <c:crossAx val="1889403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rgbClr val="FF6600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KPI!$A$1</c:f>
              <c:strCache>
                <c:ptCount val="1"/>
                <c:pt idx="0">
                  <c:v>Date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069116360454941"/>
                      <c:h val="0.8926085852171703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FE57-4CC7-9984-3CCC1FA467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FF6600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KPI!$B$1</c:f>
              <c:numCache>
                <c:formatCode>[$-409]mmmm\ d\,\ yyyy;@</c:formatCode>
                <c:ptCount val="1"/>
                <c:pt idx="0">
                  <c:v>43994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57-4CC7-9984-3CCC1FA46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692256"/>
        <c:axId val="1788484240"/>
      </c:barChart>
      <c:catAx>
        <c:axId val="73692256"/>
        <c:scaling>
          <c:orientation val="minMax"/>
        </c:scaling>
        <c:delete val="1"/>
        <c:axPos val="b"/>
        <c:majorTickMark val="none"/>
        <c:minorTickMark val="none"/>
        <c:tickLblPos val="nextTo"/>
        <c:crossAx val="1788484240"/>
        <c:crosses val="autoZero"/>
        <c:auto val="1"/>
        <c:lblAlgn val="ctr"/>
        <c:lblOffset val="100"/>
        <c:noMultiLvlLbl val="0"/>
      </c:catAx>
      <c:valAx>
        <c:axId val="1788484240"/>
        <c:scaling>
          <c:orientation val="minMax"/>
        </c:scaling>
        <c:delete val="1"/>
        <c:axPos val="l"/>
        <c:numFmt formatCode="[$-409]mmmm\ d\,\ yyyy;@" sourceLinked="1"/>
        <c:majorTickMark val="none"/>
        <c:minorTickMark val="none"/>
        <c:tickLblPos val="nextTo"/>
        <c:crossAx val="73692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rgbClr val="FF6600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"/>
          <c:w val="1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KPI!$A$7</c:f>
              <c:strCache>
                <c:ptCount val="1"/>
                <c:pt idx="0">
                  <c:v>Total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04-41C2-A44D-7477BAAD61E3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365853658536584"/>
                      <c:h val="0.5666666666666666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504-41C2-A44D-7477BAAD61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FF6600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KPI!$B$7</c:f>
              <c:numCache>
                <c:formatCode>General</c:formatCode>
                <c:ptCount val="1"/>
                <c:pt idx="0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04-41C2-A44D-7477BAAD6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901056"/>
        <c:axId val="68039248"/>
      </c:barChart>
      <c:catAx>
        <c:axId val="2058901056"/>
        <c:scaling>
          <c:orientation val="minMax"/>
        </c:scaling>
        <c:delete val="1"/>
        <c:axPos val="b"/>
        <c:majorTickMark val="none"/>
        <c:minorTickMark val="none"/>
        <c:tickLblPos val="nextTo"/>
        <c:crossAx val="68039248"/>
        <c:crosses val="autoZero"/>
        <c:auto val="1"/>
        <c:lblAlgn val="ctr"/>
        <c:lblOffset val="100"/>
        <c:noMultiLvlLbl val="0"/>
      </c:catAx>
      <c:valAx>
        <c:axId val="68039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89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rgbClr val="FF6600"/>
          </a:solidFill>
          <a:latin typeface="Oswald" panose="02000503000000000000" pitchFamily="2" charset="0"/>
        </a:defRPr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3"/>
                <a:stretch>
                  <a:fillRect/>
                </a:stretch>
              </a:blip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457-432D-947B-DE7724FE0C24}"/>
              </c:ext>
            </c:extLst>
          </c:dPt>
          <c:dPt>
            <c:idx val="1"/>
            <c:invertIfNegative val="0"/>
            <c:bubble3D val="0"/>
            <c:spPr>
              <a:blipFill>
                <a:blip xmlns:r="http://schemas.openxmlformats.org/officeDocument/2006/relationships" r:embed="rId3"/>
                <a:stretch>
                  <a:fillRect/>
                </a:stretch>
              </a:blip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457-432D-947B-DE7724FE0C24}"/>
              </c:ext>
            </c:extLst>
          </c:dPt>
          <c:dPt>
            <c:idx val="2"/>
            <c:invertIfNegative val="0"/>
            <c:bubble3D val="0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457-432D-947B-DE7724FE0C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Oswald" panose="02000503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KPI!$A$4:$A$6</c:f>
              <c:strCache>
                <c:ptCount val="3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</c:strCache>
            </c:strRef>
          </c:cat>
          <c:val>
            <c:numRef>
              <c:f>KPI!$B$4:$B$6</c:f>
              <c:numCache>
                <c:formatCode>General</c:formatCode>
                <c:ptCount val="3"/>
                <c:pt idx="0">
                  <c:v>300</c:v>
                </c:pt>
                <c:pt idx="1">
                  <c:v>400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57-432D-947B-DE7724FE0C24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KPI!$A$4:$A$6</c:f>
              <c:strCache>
                <c:ptCount val="3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</c:strCache>
            </c:strRef>
          </c:cat>
          <c:val>
            <c:numRef>
              <c:f>KPI!$C$4:$C$6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C457-432D-947B-DE7724FE0C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"/>
        <c:overlap val="89"/>
        <c:axId val="184455792"/>
        <c:axId val="68043408"/>
      </c:barChart>
      <c:catAx>
        <c:axId val="18445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43408"/>
        <c:crosses val="autoZero"/>
        <c:auto val="1"/>
        <c:lblAlgn val="ctr"/>
        <c:lblOffset val="100"/>
        <c:noMultiLvlLbl val="0"/>
      </c:catAx>
      <c:valAx>
        <c:axId val="680434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455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"/>
          <c:w val="1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KPI!$A$13</c:f>
              <c:strCache>
                <c:ptCount val="1"/>
                <c:pt idx="0">
                  <c:v>Total 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9259259259259258"/>
                      <c:h val="0.398784722222222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6-4907-8417-2B57D2EEA3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rgbClr val="FF66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KPI!$B$13</c:f>
              <c:numCache>
                <c:formatCode>General</c:formatCode>
                <c:ptCount val="1"/>
                <c:pt idx="0">
                  <c:v>360000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6-4907-8417-2B57D2EEA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901056"/>
        <c:axId val="68039248"/>
      </c:barChart>
      <c:catAx>
        <c:axId val="2058901056"/>
        <c:scaling>
          <c:orientation val="minMax"/>
        </c:scaling>
        <c:delete val="1"/>
        <c:axPos val="b"/>
        <c:majorTickMark val="none"/>
        <c:minorTickMark val="none"/>
        <c:tickLblPos val="nextTo"/>
        <c:crossAx val="68039248"/>
        <c:crosses val="autoZero"/>
        <c:auto val="1"/>
        <c:lblAlgn val="ctr"/>
        <c:lblOffset val="100"/>
        <c:noMultiLvlLbl val="0"/>
      </c:catAx>
      <c:valAx>
        <c:axId val="68039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89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400" b="1">
          <a:solidFill>
            <a:srgbClr val="FF6600"/>
          </a:solidFill>
        </a:defRPr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KPI!$A$10:$A$12</c:f>
              <c:strCache>
                <c:ptCount val="3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</c:strCache>
            </c:strRef>
          </c:cat>
          <c:val>
            <c:numRef>
              <c:f>KPI!$B$10:$B$12</c:f>
              <c:numCache>
                <c:formatCode>General</c:formatCode>
                <c:ptCount val="3"/>
                <c:pt idx="0">
                  <c:v>90000</c:v>
                </c:pt>
                <c:pt idx="1">
                  <c:v>120000</c:v>
                </c:pt>
                <c:pt idx="2">
                  <c:v>150000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05-4FC6-A7F8-0959C7C64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41311456"/>
        <c:axId val="68029264"/>
      </c:barChart>
      <c:catAx>
        <c:axId val="241311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29264"/>
        <c:crosses val="autoZero"/>
        <c:auto val="1"/>
        <c:lblAlgn val="ctr"/>
        <c:lblOffset val="100"/>
        <c:noMultiLvlLbl val="0"/>
      </c:catAx>
      <c:valAx>
        <c:axId val="680292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41311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"/>
          <c:w val="1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KPI!$A$40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FF66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KPI!$B$40</c:f>
              <c:numCache>
                <c:formatCode>General</c:formatCode>
                <c:ptCount val="1"/>
                <c:pt idx="0">
                  <c:v>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0D-411A-A862-9FB27398BD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901056"/>
        <c:axId val="68039248"/>
      </c:barChart>
      <c:catAx>
        <c:axId val="2058901056"/>
        <c:scaling>
          <c:orientation val="minMax"/>
        </c:scaling>
        <c:delete val="1"/>
        <c:axPos val="b"/>
        <c:majorTickMark val="none"/>
        <c:minorTickMark val="none"/>
        <c:tickLblPos val="nextTo"/>
        <c:crossAx val="68039248"/>
        <c:crosses val="autoZero"/>
        <c:auto val="1"/>
        <c:lblAlgn val="ctr"/>
        <c:lblOffset val="100"/>
        <c:noMultiLvlLbl val="0"/>
      </c:catAx>
      <c:valAx>
        <c:axId val="68039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89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000" b="1">
          <a:solidFill>
            <a:srgbClr val="FF6600"/>
          </a:solidFill>
        </a:defRPr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gradFill>
                <a:gsLst>
                  <a:gs pos="53000">
                    <a:srgbClr val="7CBF33"/>
                  </a:gs>
                  <a:gs pos="1000">
                    <a:srgbClr val="AAD292"/>
                  </a:gs>
                  <a:gs pos="95000">
                    <a:srgbClr val="00B050"/>
                  </a:gs>
                </a:gsLst>
                <a:lin ang="5400000" scaled="1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CE-4364-840A-E0C212A80B1E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CE-4364-840A-E0C212A80B1E}"/>
              </c:ext>
            </c:extLst>
          </c:dPt>
          <c:cat>
            <c:strRef>
              <c:f>KPI!$A$38:$A$39</c:f>
              <c:strCache>
                <c:ptCount val="2"/>
                <c:pt idx="0">
                  <c:v>Postive </c:v>
                </c:pt>
                <c:pt idx="1">
                  <c:v>Negative </c:v>
                </c:pt>
              </c:strCache>
            </c:strRef>
          </c:cat>
          <c:val>
            <c:numRef>
              <c:f>KPI!$B$38:$B$39</c:f>
              <c:numCache>
                <c:formatCode>General</c:formatCode>
                <c:ptCount val="2"/>
                <c:pt idx="0">
                  <c:v>300</c:v>
                </c:pt>
                <c:pt idx="1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CE-4364-840A-E0C212A80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"/>
          <c:w val="1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KPI!$A$38</c:f>
              <c:strCache>
                <c:ptCount val="1"/>
                <c:pt idx="0">
                  <c:v>Postive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8F2-4CCF-9775-C4DC5412C2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KPI!$B$38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F2-4CCF-9775-C4DC5412C2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901056"/>
        <c:axId val="68039248"/>
      </c:barChart>
      <c:catAx>
        <c:axId val="2058901056"/>
        <c:scaling>
          <c:orientation val="minMax"/>
        </c:scaling>
        <c:delete val="1"/>
        <c:axPos val="b"/>
        <c:majorTickMark val="none"/>
        <c:minorTickMark val="none"/>
        <c:tickLblPos val="nextTo"/>
        <c:crossAx val="68039248"/>
        <c:crosses val="autoZero"/>
        <c:auto val="1"/>
        <c:lblAlgn val="ctr"/>
        <c:lblOffset val="100"/>
        <c:noMultiLvlLbl val="0"/>
      </c:catAx>
      <c:valAx>
        <c:axId val="68039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89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 b="1"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BF4-46E6-BB22-31A37091C1A9}"/>
              </c:ext>
            </c:extLst>
          </c:dPt>
          <c:dPt>
            <c:idx val="1"/>
            <c:bubble3D val="0"/>
            <c:spPr>
              <a:gradFill>
                <a:gsLst>
                  <a:gs pos="53000">
                    <a:srgbClr val="FF0066"/>
                  </a:gs>
                  <a:gs pos="31000">
                    <a:srgbClr val="FF6600"/>
                  </a:gs>
                  <a:gs pos="95000">
                    <a:srgbClr val="EE3900"/>
                  </a:gs>
                </a:gsLst>
                <a:lin ang="5400000" scaled="1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BF4-46E6-BB22-31A37091C1A9}"/>
              </c:ext>
            </c:extLst>
          </c:dPt>
          <c:cat>
            <c:strRef>
              <c:f>KPI!$A$38:$A$39</c:f>
              <c:strCache>
                <c:ptCount val="2"/>
                <c:pt idx="0">
                  <c:v>Postive </c:v>
                </c:pt>
                <c:pt idx="1">
                  <c:v>Negative </c:v>
                </c:pt>
              </c:strCache>
            </c:strRef>
          </c:cat>
          <c:val>
            <c:numRef>
              <c:f>KPI!$B$38:$B$39</c:f>
              <c:numCache>
                <c:formatCode>General</c:formatCode>
                <c:ptCount val="2"/>
                <c:pt idx="0">
                  <c:v>300</c:v>
                </c:pt>
                <c:pt idx="1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F4-46E6-BB22-31A37091C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9607843137254919E-3"/>
          <c:w val="1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KPI!$A$39</c:f>
              <c:strCache>
                <c:ptCount val="1"/>
                <c:pt idx="0">
                  <c:v>Negative 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KPI!$B$39</c:f>
              <c:numCache>
                <c:formatCode>General</c:formatCode>
                <c:ptCount val="1"/>
                <c:pt idx="0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3D-4D80-9851-E95AA107B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901056"/>
        <c:axId val="68039248"/>
      </c:barChart>
      <c:catAx>
        <c:axId val="2058901056"/>
        <c:scaling>
          <c:orientation val="minMax"/>
        </c:scaling>
        <c:delete val="1"/>
        <c:axPos val="b"/>
        <c:majorTickMark val="none"/>
        <c:minorTickMark val="none"/>
        <c:tickLblPos val="nextTo"/>
        <c:crossAx val="68039248"/>
        <c:crosses val="autoZero"/>
        <c:auto val="1"/>
        <c:lblAlgn val="ctr"/>
        <c:lblOffset val="100"/>
        <c:noMultiLvlLbl val="0"/>
      </c:catAx>
      <c:valAx>
        <c:axId val="68039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89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9.9999477126916994E-2"/>
          <c:w val="1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KPI!$A$40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918642669162437"/>
                      <c:h val="0.364098488373917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B8D-477A-9578-9B2B11257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rgbClr val="FF66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KPI!$B$40</c:f>
              <c:numCache>
                <c:formatCode>General</c:formatCode>
                <c:ptCount val="1"/>
                <c:pt idx="0">
                  <c:v>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8D-477A-9578-9B2B11257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901056"/>
        <c:axId val="68039248"/>
      </c:barChart>
      <c:catAx>
        <c:axId val="2058901056"/>
        <c:scaling>
          <c:orientation val="minMax"/>
        </c:scaling>
        <c:delete val="1"/>
        <c:axPos val="b"/>
        <c:majorTickMark val="none"/>
        <c:minorTickMark val="none"/>
        <c:tickLblPos val="nextTo"/>
        <c:crossAx val="68039248"/>
        <c:crosses val="autoZero"/>
        <c:auto val="1"/>
        <c:lblAlgn val="ctr"/>
        <c:lblOffset val="100"/>
        <c:noMultiLvlLbl val="0"/>
      </c:catAx>
      <c:valAx>
        <c:axId val="68039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89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400" b="1">
          <a:solidFill>
            <a:srgbClr val="FF6600"/>
          </a:solidFill>
        </a:defRPr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</c:dPt>
          <c:dPt>
            <c:idx val="11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</c:dPt>
          <c:dPt>
            <c:idx val="12"/>
            <c:invertIfNegative val="0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</c:dPt>
          <c:dPt>
            <c:idx val="13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</c:dPt>
          <c:dPt>
            <c:idx val="14"/>
            <c:invertIfNegative val="0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</c:dPt>
          <c:dPt>
            <c:idx val="15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</c:dPt>
          <c:dPt>
            <c:idx val="16"/>
            <c:invertIfNegative val="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</c:dPt>
          <c:dPt>
            <c:idx val="17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</c:dPt>
          <c:dPt>
            <c:idx val="18"/>
            <c:invertIfNegative val="0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</c:dPt>
          <c:dPt>
            <c:idx val="1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</c:dPt>
          <c:dPt>
            <c:idx val="20"/>
            <c:invertIfNegative val="0"/>
            <c:bubble3D val="0"/>
            <c:spPr>
              <a:solidFill>
                <a:schemeClr val="accent3">
                  <a:lumMod val="80000"/>
                </a:schemeClr>
              </a:solidFill>
              <a:ln>
                <a:noFill/>
              </a:ln>
              <a:effectLst/>
            </c:spPr>
          </c:dPt>
          <c:dPt>
            <c:idx val="21"/>
            <c:invertIfNegative val="0"/>
            <c:bubble3D val="0"/>
            <c:spPr>
              <a:solidFill>
                <a:schemeClr val="accent4">
                  <a:lumMod val="80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KPI!$A$41:$A$62</c:f>
              <c:strCache>
                <c:ptCount val="22"/>
                <c:pt idx="0">
                  <c:v>Work permit </c:v>
                </c:pt>
                <c:pt idx="1">
                  <c:v>Traffic</c:v>
                </c:pt>
                <c:pt idx="2">
                  <c:v>Signage </c:v>
                </c:pt>
                <c:pt idx="3">
                  <c:v>Scaffold</c:v>
                </c:pt>
                <c:pt idx="4">
                  <c:v>Rigging</c:v>
                </c:pt>
                <c:pt idx="5">
                  <c:v>Rebar caps</c:v>
                </c:pt>
                <c:pt idx="6">
                  <c:v>PTW</c:v>
                </c:pt>
                <c:pt idx="7">
                  <c:v>PPE</c:v>
                </c:pt>
                <c:pt idx="8">
                  <c:v>Power Tools</c:v>
                </c:pt>
                <c:pt idx="9">
                  <c:v>Manual handling</c:v>
                </c:pt>
                <c:pt idx="10">
                  <c:v>houskeeping</c:v>
                </c:pt>
                <c:pt idx="11">
                  <c:v>Heavy Equipment</c:v>
                </c:pt>
                <c:pt idx="12">
                  <c:v>Lifting</c:v>
                </c:pt>
                <c:pt idx="13">
                  <c:v>Welding </c:v>
                </c:pt>
                <c:pt idx="14">
                  <c:v>Fire Equipment</c:v>
                </c:pt>
                <c:pt idx="15">
                  <c:v>Health</c:v>
                </c:pt>
                <c:pt idx="16">
                  <c:v>falls</c:v>
                </c:pt>
                <c:pt idx="17">
                  <c:v>excavation</c:v>
                </c:pt>
                <c:pt idx="18">
                  <c:v>Driving</c:v>
                </c:pt>
                <c:pt idx="19">
                  <c:v>Electrical</c:v>
                </c:pt>
                <c:pt idx="20">
                  <c:v>Confiend space</c:v>
                </c:pt>
                <c:pt idx="21">
                  <c:v>CGC</c:v>
                </c:pt>
              </c:strCache>
            </c:strRef>
          </c:cat>
          <c:val>
            <c:numRef>
              <c:f>KPI!$B$41:$B$62</c:f>
              <c:numCache>
                <c:formatCode>General</c:formatCode>
                <c:ptCount val="22"/>
                <c:pt idx="0">
                  <c:v>20</c:v>
                </c:pt>
                <c:pt idx="1">
                  <c:v>2</c:v>
                </c:pt>
                <c:pt idx="2">
                  <c:v>40</c:v>
                </c:pt>
                <c:pt idx="3">
                  <c:v>15</c:v>
                </c:pt>
                <c:pt idx="4">
                  <c:v>25</c:v>
                </c:pt>
                <c:pt idx="5">
                  <c:v>13</c:v>
                </c:pt>
                <c:pt idx="6">
                  <c:v>13</c:v>
                </c:pt>
                <c:pt idx="7">
                  <c:v>90</c:v>
                </c:pt>
                <c:pt idx="8">
                  <c:v>41</c:v>
                </c:pt>
                <c:pt idx="9">
                  <c:v>7</c:v>
                </c:pt>
                <c:pt idx="10">
                  <c:v>40</c:v>
                </c:pt>
                <c:pt idx="11">
                  <c:v>35</c:v>
                </c:pt>
                <c:pt idx="12">
                  <c:v>12</c:v>
                </c:pt>
                <c:pt idx="13">
                  <c:v>2</c:v>
                </c:pt>
                <c:pt idx="14">
                  <c:v>10</c:v>
                </c:pt>
                <c:pt idx="15">
                  <c:v>2</c:v>
                </c:pt>
                <c:pt idx="16">
                  <c:v>4</c:v>
                </c:pt>
                <c:pt idx="17">
                  <c:v>5</c:v>
                </c:pt>
                <c:pt idx="18">
                  <c:v>13</c:v>
                </c:pt>
                <c:pt idx="19">
                  <c:v>11</c:v>
                </c:pt>
                <c:pt idx="20">
                  <c:v>7</c:v>
                </c:pt>
                <c:pt idx="2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8E-47DB-A9FF-A7B7DC128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58905456"/>
        <c:axId val="68031344"/>
      </c:barChart>
      <c:catAx>
        <c:axId val="2058905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31344"/>
        <c:crosses val="autoZero"/>
        <c:auto val="1"/>
        <c:lblAlgn val="ctr"/>
        <c:lblOffset val="100"/>
        <c:noMultiLvlLbl val="0"/>
      </c:catAx>
      <c:valAx>
        <c:axId val="68031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58905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"/>
          <c:w val="1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KPI!$A$85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66-421C-9CDC-306B6500248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rgbClr val="FF66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348741129581027"/>
                      <c:h val="0.4335944335083114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666-421C-9CDC-306B650024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FF66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KPI!$B$85</c:f>
              <c:numCache>
                <c:formatCode>General</c:formatCode>
                <c:ptCount val="1"/>
                <c:pt idx="0">
                  <c:v>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66-421C-9CDC-306B65002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8901056"/>
        <c:axId val="68039248"/>
      </c:barChart>
      <c:catAx>
        <c:axId val="2058901056"/>
        <c:scaling>
          <c:orientation val="minMax"/>
        </c:scaling>
        <c:delete val="1"/>
        <c:axPos val="b"/>
        <c:majorTickMark val="none"/>
        <c:minorTickMark val="none"/>
        <c:tickLblPos val="nextTo"/>
        <c:crossAx val="68039248"/>
        <c:crosses val="autoZero"/>
        <c:auto val="1"/>
        <c:lblAlgn val="ctr"/>
        <c:lblOffset val="100"/>
        <c:noMultiLvlLbl val="0"/>
      </c:catAx>
      <c:valAx>
        <c:axId val="68039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58901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rgbClr val="FF6600"/>
          </a:solidFill>
        </a:defRPr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B3-4EB1-8E10-843D12738BD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KPI!$A$78:$A$84</c:f>
              <c:strCache>
                <c:ptCount val="7"/>
                <c:pt idx="0">
                  <c:v>Working At height</c:v>
                </c:pt>
                <c:pt idx="1">
                  <c:v>Work Permit</c:v>
                </c:pt>
                <c:pt idx="2">
                  <c:v>Confiend Space</c:v>
                </c:pt>
                <c:pt idx="3">
                  <c:v>Lifting</c:v>
                </c:pt>
                <c:pt idx="4">
                  <c:v>Excavation</c:v>
                </c:pt>
                <c:pt idx="5">
                  <c:v>Welding and Cutting</c:v>
                </c:pt>
                <c:pt idx="6">
                  <c:v>Scaffolding</c:v>
                </c:pt>
              </c:strCache>
            </c:strRef>
          </c:cat>
          <c:val>
            <c:numRef>
              <c:f>KPI!$B$78:$B$84</c:f>
              <c:numCache>
                <c:formatCode>General</c:formatCode>
                <c:ptCount val="7"/>
                <c:pt idx="0">
                  <c:v>140</c:v>
                </c:pt>
                <c:pt idx="1">
                  <c:v>230</c:v>
                </c:pt>
                <c:pt idx="2">
                  <c:v>110</c:v>
                </c:pt>
                <c:pt idx="3">
                  <c:v>88</c:v>
                </c:pt>
                <c:pt idx="4">
                  <c:v>90</c:v>
                </c:pt>
                <c:pt idx="5">
                  <c:v>170</c:v>
                </c:pt>
                <c:pt idx="6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B3-4EB1-8E10-843D12738B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8081904"/>
        <c:axId val="2099978016"/>
      </c:barChart>
      <c:catAx>
        <c:axId val="6808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9978016"/>
        <c:crosses val="autoZero"/>
        <c:auto val="1"/>
        <c:lblAlgn val="ctr"/>
        <c:lblOffset val="100"/>
        <c:noMultiLvlLbl val="0"/>
      </c:catAx>
      <c:valAx>
        <c:axId val="20999780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8081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239468661922876E-2"/>
          <c:y val="6.2656641604010022E-2"/>
          <c:w val="0.88817781204315749"/>
          <c:h val="0.78572513962070534"/>
        </c:manualLayout>
      </c:layout>
      <c:lineChart>
        <c:grouping val="standard"/>
        <c:varyColors val="0"/>
        <c:ser>
          <c:idx val="0"/>
          <c:order val="0"/>
          <c:spPr>
            <a:ln w="28575" cap="sq">
              <a:gradFill>
                <a:gsLst>
                  <a:gs pos="0">
                    <a:srgbClr val="FFC000"/>
                  </a:gs>
                  <a:gs pos="41000">
                    <a:srgbClr val="FF6600"/>
                  </a:gs>
                  <a:gs pos="70000">
                    <a:srgbClr val="FF0000"/>
                  </a:gs>
                  <a:gs pos="100000">
                    <a:srgbClr val="EE3900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KPI!$A$66:$A$69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KPI!$B$66:$B$69</c:f>
              <c:numCache>
                <c:formatCode>General</c:formatCode>
                <c:ptCount val="4"/>
                <c:pt idx="0">
                  <c:v>0.2</c:v>
                </c:pt>
                <c:pt idx="1">
                  <c:v>0.1</c:v>
                </c:pt>
                <c:pt idx="2">
                  <c:v>0.3</c:v>
                </c:pt>
                <c:pt idx="3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6A-40D1-93B6-242C92EFA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080304"/>
        <c:axId val="68056304"/>
      </c:lineChart>
      <c:catAx>
        <c:axId val="6808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56304"/>
        <c:crosses val="autoZero"/>
        <c:auto val="1"/>
        <c:lblAlgn val="ctr"/>
        <c:lblOffset val="100"/>
        <c:noMultiLvlLbl val="0"/>
      </c:catAx>
      <c:valAx>
        <c:axId val="68056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80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sq">
              <a:solidFill>
                <a:srgbClr val="FF006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KPI!$A$72:$A$75</c:f>
              <c:numCache>
                <c:formatCode>General</c:formatCode>
                <c:ptCount val="4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</c:numCache>
            </c:numRef>
          </c:cat>
          <c:val>
            <c:numRef>
              <c:f>KPI!$B$72:$B$75</c:f>
              <c:numCache>
                <c:formatCode>General</c:formatCode>
                <c:ptCount val="4"/>
                <c:pt idx="0">
                  <c:v>4</c:v>
                </c:pt>
                <c:pt idx="1">
                  <c:v>2.5</c:v>
                </c:pt>
                <c:pt idx="2">
                  <c:v>3.5</c:v>
                </c:pt>
                <c:pt idx="3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41D-4CF7-86E8-ADF640E87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0361216"/>
        <c:axId val="68052976"/>
      </c:lineChart>
      <c:catAx>
        <c:axId val="250361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52976"/>
        <c:crosses val="autoZero"/>
        <c:auto val="1"/>
        <c:lblAlgn val="ctr"/>
        <c:lblOffset val="100"/>
        <c:noMultiLvlLbl val="0"/>
      </c:catAx>
      <c:valAx>
        <c:axId val="680529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361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1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AE43-EB21-4020-8551-A070B0560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682EE-3CCF-4827-B9C9-5C52F44AD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97CD8-18CD-4B28-B6F3-FF0FB8BC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0586F-46F5-4E47-91C6-ABD5550C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BF87B-C9BC-42B0-83F1-EA804143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3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8CEA-7812-4EF9-890B-ACA3E9A1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A3DA-0576-45EC-B127-3B9F34FED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D1156-7620-4F0E-95A0-98FB82DA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8E513-056B-4067-BA0A-E0D7776F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291D-114F-4116-BEF0-8B322FF4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8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CF9E-248D-489A-9E2C-2B5EB0F7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E2007-58CB-4C6B-86A0-BF7012D0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5655A-38B6-431E-907D-A78BE673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91E89-3D0C-4F3C-B3E4-B6B220535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5AD1D-479B-4D4D-83BC-B525C048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4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453B-B85F-4F17-BDC9-3A55472E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7D433-2581-471C-A1D7-A632A0FE1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C829B-D77C-4D1C-AD04-145EE0C94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86148-CC1C-48DE-AFC9-F1EC59236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D251A-81CD-425B-A08C-1947EE05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63A20-A92D-43B7-9E67-2BC90A7A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9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ADAE-9EB4-4BE8-96C6-E6357AB2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BE8EF-19E0-477B-BCB7-529D346FA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63AFF-0C3D-49B1-8614-40EB11ACE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6837E4-9A0A-4E7F-B5C6-745138525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7EC743-7BE3-442B-BAEE-BE032C174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75F24-4460-4922-94FA-3FC5BFC4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84633-7596-41AE-BFAC-E362EB30E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2A11A6-6A51-480A-904A-8657BE07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81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4D9A-721A-4B6C-8A5F-4714EDAD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E6FDE-D0BA-4152-92C8-E5DAB0D7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42A4F2-2A01-43CB-B3E7-3B8BEDDE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BA69B-DAB9-4F57-96E0-5E81B1CD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2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96CDF-43C5-4E95-920E-043CC791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48D1F-F7E8-4C6E-A933-D34E1E19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A11D9-F8DF-481E-9AC6-AE99D96D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3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C9F6-0876-43DD-8E42-122E434C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3A72E-FB82-458B-9683-1AA17DB5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10DE6-3944-4781-B5E3-0EDC8C526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2147C-18EE-452D-8D1A-4433055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9B439-90AA-4EED-BAE5-19A62260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ABB9C-2A49-422D-99FC-B6C5D1C4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3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74D4-ADF6-45CF-9A7C-8AAD89768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1DFB9-CC65-4CBC-B4C7-A8F4E8858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86769-2EC1-48F9-9316-7B4624AF4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682C8-4056-46F0-987C-F40AB89A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AC94B-E656-44A2-BF0A-F98B4164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1F814-4558-460F-B1B1-47910BAF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9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5CB7-52A5-4F25-8E36-47E8ED79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7E97-31B7-450D-BF35-DB034EC05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026BC-AFD3-4F11-938E-6CE94E3C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ED118-20E5-4C04-91F8-BF66B576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51A0F-5E4A-47A2-8A20-E932DB3B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4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E1062-AF09-4D0E-B9FB-CB6956D92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8059C-2006-45F1-A62D-A807AABBB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753FE-0096-4C25-8F2C-739A132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0A617-2828-4B0B-9B35-0B5207E7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343A6-E159-4443-9A4B-1F7B7DDD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5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C68EB-96CB-4819-A8AD-1650D98C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6D560-CFEA-4366-888D-EC9888A0E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C70E1-1D8D-40D0-BF8A-88063F1CF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5D10B-EFF2-4F6E-BD65-6812DE4AF82A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E184-45F1-4DB7-9135-1F31530FA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EFBAA-B812-4FAE-98D2-96D786F1F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92F6-F9AE-4D9E-9E51-497127ED5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9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svg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21" Type="http://schemas.openxmlformats.org/officeDocument/2006/relationships/image" Target="../media/image13.svg"/><Relationship Id="rId34" Type="http://schemas.openxmlformats.org/officeDocument/2006/relationships/chart" Target="../charts/chart13.xml"/><Relationship Id="rId7" Type="http://schemas.openxmlformats.org/officeDocument/2006/relationships/image" Target="../media/image4.svg"/><Relationship Id="rId12" Type="http://schemas.openxmlformats.org/officeDocument/2006/relationships/image" Target="../media/image8.png"/><Relationship Id="rId17" Type="http://schemas.openxmlformats.org/officeDocument/2006/relationships/chart" Target="../charts/chart10.xml"/><Relationship Id="rId25" Type="http://schemas.openxmlformats.org/officeDocument/2006/relationships/image" Target="../media/image17.svg"/><Relationship Id="rId33" Type="http://schemas.openxmlformats.org/officeDocument/2006/relationships/chart" Target="../charts/chart12.xml"/><Relationship Id="rId2" Type="http://schemas.openxmlformats.org/officeDocument/2006/relationships/chart" Target="../charts/chart1.xml"/><Relationship Id="rId16" Type="http://schemas.openxmlformats.org/officeDocument/2006/relationships/chart" Target="../charts/chart9.xml"/><Relationship Id="rId20" Type="http://schemas.openxmlformats.org/officeDocument/2006/relationships/image" Target="../media/image12.png"/><Relationship Id="rId29" Type="http://schemas.openxmlformats.org/officeDocument/2006/relationships/image" Target="../media/image2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hart" Target="../charts/chart6.xml"/><Relationship Id="rId24" Type="http://schemas.openxmlformats.org/officeDocument/2006/relationships/image" Target="../media/image16.png"/><Relationship Id="rId32" Type="http://schemas.openxmlformats.org/officeDocument/2006/relationships/chart" Target="../charts/chart11.xml"/><Relationship Id="rId37" Type="http://schemas.openxmlformats.org/officeDocument/2006/relationships/chart" Target="../charts/chart16.xml"/><Relationship Id="rId5" Type="http://schemas.openxmlformats.org/officeDocument/2006/relationships/chart" Target="../charts/chart2.xml"/><Relationship Id="rId15" Type="http://schemas.openxmlformats.org/officeDocument/2006/relationships/chart" Target="../charts/chart8.xml"/><Relationship Id="rId23" Type="http://schemas.openxmlformats.org/officeDocument/2006/relationships/image" Target="../media/image15.svg"/><Relationship Id="rId28" Type="http://schemas.openxmlformats.org/officeDocument/2006/relationships/image" Target="../media/image20.png"/><Relationship Id="rId36" Type="http://schemas.openxmlformats.org/officeDocument/2006/relationships/chart" Target="../charts/chart15.xml"/><Relationship Id="rId10" Type="http://schemas.openxmlformats.org/officeDocument/2006/relationships/chart" Target="../charts/chart5.xml"/><Relationship Id="rId19" Type="http://schemas.openxmlformats.org/officeDocument/2006/relationships/image" Target="../media/image11.svg"/><Relationship Id="rId31" Type="http://schemas.openxmlformats.org/officeDocument/2006/relationships/image" Target="../media/image23.svg"/><Relationship Id="rId4" Type="http://schemas.openxmlformats.org/officeDocument/2006/relationships/image" Target="../media/image2.svg"/><Relationship Id="rId9" Type="http://schemas.openxmlformats.org/officeDocument/2006/relationships/chart" Target="../charts/chart4.xml"/><Relationship Id="rId14" Type="http://schemas.openxmlformats.org/officeDocument/2006/relationships/chart" Target="../charts/chart7.xml"/><Relationship Id="rId22" Type="http://schemas.openxmlformats.org/officeDocument/2006/relationships/image" Target="../media/image14.png"/><Relationship Id="rId27" Type="http://schemas.openxmlformats.org/officeDocument/2006/relationships/image" Target="../media/image19.svg"/><Relationship Id="rId30" Type="http://schemas.openxmlformats.org/officeDocument/2006/relationships/image" Target="../media/image22.png"/><Relationship Id="rId35" Type="http://schemas.openxmlformats.org/officeDocument/2006/relationships/chart" Target="../charts/chart14.xml"/><Relationship Id="rId8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26" Type="http://schemas.openxmlformats.org/officeDocument/2006/relationships/chart" Target="../charts/chart21.xml"/><Relationship Id="rId21" Type="http://schemas.openxmlformats.org/officeDocument/2006/relationships/image" Target="../media/image23.svg"/><Relationship Id="rId34" Type="http://schemas.openxmlformats.org/officeDocument/2006/relationships/chart" Target="../charts/chart29.xml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5" Type="http://schemas.openxmlformats.org/officeDocument/2006/relationships/chart" Target="../charts/chart20.xml"/><Relationship Id="rId33" Type="http://schemas.openxmlformats.org/officeDocument/2006/relationships/chart" Target="../charts/chart28.xml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chart" Target="../charts/chart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24" Type="http://schemas.openxmlformats.org/officeDocument/2006/relationships/chart" Target="../charts/chart19.xml"/><Relationship Id="rId32" Type="http://schemas.openxmlformats.org/officeDocument/2006/relationships/chart" Target="../charts/chart27.xml"/><Relationship Id="rId37" Type="http://schemas.openxmlformats.org/officeDocument/2006/relationships/chart" Target="../charts/chart32.xml"/><Relationship Id="rId5" Type="http://schemas.openxmlformats.org/officeDocument/2006/relationships/image" Target="../media/image4.svg"/><Relationship Id="rId15" Type="http://schemas.openxmlformats.org/officeDocument/2006/relationships/image" Target="../media/image17.svg"/><Relationship Id="rId23" Type="http://schemas.openxmlformats.org/officeDocument/2006/relationships/chart" Target="../charts/chart18.xml"/><Relationship Id="rId28" Type="http://schemas.openxmlformats.org/officeDocument/2006/relationships/chart" Target="../charts/chart23.xml"/><Relationship Id="rId36" Type="http://schemas.openxmlformats.org/officeDocument/2006/relationships/chart" Target="../charts/chart31.xml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31" Type="http://schemas.openxmlformats.org/officeDocument/2006/relationships/chart" Target="../charts/chart26.xml"/><Relationship Id="rId4" Type="http://schemas.openxmlformats.org/officeDocument/2006/relationships/image" Target="../media/image3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22" Type="http://schemas.openxmlformats.org/officeDocument/2006/relationships/chart" Target="../charts/chart17.xml"/><Relationship Id="rId27" Type="http://schemas.openxmlformats.org/officeDocument/2006/relationships/chart" Target="../charts/chart22.xml"/><Relationship Id="rId30" Type="http://schemas.openxmlformats.org/officeDocument/2006/relationships/chart" Target="../charts/chart25.xml"/><Relationship Id="rId35" Type="http://schemas.openxmlformats.org/officeDocument/2006/relationships/chart" Target="../charts/chart30.xml"/><Relationship Id="rId8" Type="http://schemas.openxmlformats.org/officeDocument/2006/relationships/image" Target="../media/image10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FF6600"/>
            </a:gs>
            <a:gs pos="46000">
              <a:srgbClr val="D72D6E"/>
            </a:gs>
            <a:gs pos="100000">
              <a:srgbClr val="CC00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2FA706-22E4-496A-AE35-5B61B2E6A80A}"/>
              </a:ext>
            </a:extLst>
          </p:cNvPr>
          <p:cNvSpPr/>
          <p:nvPr/>
        </p:nvSpPr>
        <p:spPr>
          <a:xfrm>
            <a:off x="128184" y="745210"/>
            <a:ext cx="8412480" cy="6035040"/>
          </a:xfrm>
          <a:prstGeom prst="roundRect">
            <a:avLst>
              <a:gd name="adj" fmla="val 400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76200" dist="635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914876-F0BA-4524-92C5-2E6D7597A755}"/>
              </a:ext>
            </a:extLst>
          </p:cNvPr>
          <p:cNvGrpSpPr/>
          <p:nvPr/>
        </p:nvGrpSpPr>
        <p:grpSpPr>
          <a:xfrm>
            <a:off x="4350898" y="847698"/>
            <a:ext cx="4065513" cy="1888132"/>
            <a:chOff x="195580" y="847698"/>
            <a:chExt cx="3759200" cy="188813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FD6CE8-A94B-408C-BEA4-3D77C72EE338}"/>
                </a:ext>
              </a:extLst>
            </p:cNvPr>
            <p:cNvSpPr/>
            <p:nvPr/>
          </p:nvSpPr>
          <p:spPr>
            <a:xfrm>
              <a:off x="195580" y="1348488"/>
              <a:ext cx="3759200" cy="13873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2572C13-DD53-40A6-9B9A-98F849449840}"/>
                </a:ext>
              </a:extLst>
            </p:cNvPr>
            <p:cNvSpPr/>
            <p:nvPr/>
          </p:nvSpPr>
          <p:spPr>
            <a:xfrm>
              <a:off x="195580" y="847698"/>
              <a:ext cx="3759200" cy="61214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Oswald" panose="02000503000000000000" pitchFamily="2" charset="0"/>
                </a:rPr>
                <a:t>                Total Manhours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E98A73-6AD8-4B66-8D5F-0B9A7FF87A30}"/>
              </a:ext>
            </a:extLst>
          </p:cNvPr>
          <p:cNvSpPr/>
          <p:nvPr/>
        </p:nvSpPr>
        <p:spPr>
          <a:xfrm>
            <a:off x="8623618" y="745208"/>
            <a:ext cx="3476622" cy="2834640"/>
          </a:xfrm>
          <a:prstGeom prst="roundRect">
            <a:avLst>
              <a:gd name="adj" fmla="val 4943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76200" dist="635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8B55DA-B0A1-4E37-A162-F93F88111E59}"/>
              </a:ext>
            </a:extLst>
          </p:cNvPr>
          <p:cNvSpPr/>
          <p:nvPr/>
        </p:nvSpPr>
        <p:spPr>
          <a:xfrm>
            <a:off x="8649217" y="3646389"/>
            <a:ext cx="3476622" cy="3074080"/>
          </a:xfrm>
          <a:prstGeom prst="roundRect">
            <a:avLst>
              <a:gd name="adj" fmla="val 4943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76200" dist="635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235005-72F2-44FC-A194-D05ECF82DFC4}"/>
              </a:ext>
            </a:extLst>
          </p:cNvPr>
          <p:cNvGrpSpPr/>
          <p:nvPr/>
        </p:nvGrpSpPr>
        <p:grpSpPr>
          <a:xfrm>
            <a:off x="195579" y="847698"/>
            <a:ext cx="4065513" cy="1888132"/>
            <a:chOff x="195580" y="847698"/>
            <a:chExt cx="3759200" cy="18881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480EE92-D417-4664-9D98-BFFDD3959F42}"/>
                </a:ext>
              </a:extLst>
            </p:cNvPr>
            <p:cNvSpPr/>
            <p:nvPr/>
          </p:nvSpPr>
          <p:spPr>
            <a:xfrm>
              <a:off x="195580" y="1348488"/>
              <a:ext cx="3759200" cy="13873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  <a:alpha val="8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5D2057-1053-4759-A00A-41FF4DABA791}"/>
                </a:ext>
              </a:extLst>
            </p:cNvPr>
            <p:cNvSpPr/>
            <p:nvPr/>
          </p:nvSpPr>
          <p:spPr>
            <a:xfrm>
              <a:off x="195580" y="847698"/>
              <a:ext cx="3759200" cy="61214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Oswald" panose="02000503000000000000" pitchFamily="2" charset="0"/>
                </a:rPr>
                <a:t>                Total Manpower</a:t>
              </a:r>
            </a:p>
          </p:txBody>
        </p:sp>
      </p:grp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C1DF39FC-EB26-4BF6-93AA-C8DE6DBD9A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9729796"/>
              </p:ext>
            </p:extLst>
          </p:nvPr>
        </p:nvGraphicFramePr>
        <p:xfrm>
          <a:off x="195580" y="1314700"/>
          <a:ext cx="3561080" cy="142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B7CFCD3-B90E-4070-AC8D-229A902C1FD5}"/>
              </a:ext>
            </a:extLst>
          </p:cNvPr>
          <p:cNvGrpSpPr/>
          <p:nvPr/>
        </p:nvGrpSpPr>
        <p:grpSpPr>
          <a:xfrm>
            <a:off x="154818" y="18914"/>
            <a:ext cx="3526315" cy="701463"/>
            <a:chOff x="114058" y="1"/>
            <a:chExt cx="3642602" cy="73156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A2A476F-5BC6-44A9-8C8A-C61D51ADC0FD}"/>
                </a:ext>
              </a:extLst>
            </p:cNvPr>
            <p:cNvSpPr/>
            <p:nvPr/>
          </p:nvSpPr>
          <p:spPr>
            <a:xfrm>
              <a:off x="114058" y="1"/>
              <a:ext cx="3642602" cy="731564"/>
            </a:xfrm>
            <a:prstGeom prst="roundRect">
              <a:avLst>
                <a:gd name="adj" fmla="val 15705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outerShdw blurRad="76200" dist="635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85191BF-FF64-4FF7-8297-5CAEB2653AA8}"/>
                </a:ext>
              </a:extLst>
            </p:cNvPr>
            <p:cNvSpPr/>
            <p:nvPr/>
          </p:nvSpPr>
          <p:spPr>
            <a:xfrm>
              <a:off x="195581" y="97598"/>
              <a:ext cx="3441700" cy="542482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Oswald" panose="02000503000000000000" pitchFamily="2" charset="0"/>
                </a:rPr>
                <a:t>                Date:</a:t>
              </a:r>
            </a:p>
          </p:txBody>
        </p:sp>
      </p:grpSp>
      <p:pic>
        <p:nvPicPr>
          <p:cNvPr id="24" name="Graphic 23" descr="Daily calendar">
            <a:extLst>
              <a:ext uri="{FF2B5EF4-FFF2-40B4-BE49-F238E27FC236}">
                <a16:creationId xmlns:a16="http://schemas.microsoft.com/office/drawing/2014/main" id="{40C6C481-9949-4AEC-BFE0-06F77616C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180" y="97598"/>
            <a:ext cx="495300" cy="495300"/>
          </a:xfrm>
          <a:prstGeom prst="rect">
            <a:avLst/>
          </a:prstGeom>
          <a:effectLst>
            <a:outerShdw blurRad="76200" dist="76200" dir="10800000" algn="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2B4A5780-4328-4154-9F5E-E2DCC33C23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8964446"/>
              </p:ext>
            </p:extLst>
          </p:nvPr>
        </p:nvGraphicFramePr>
        <p:xfrm>
          <a:off x="2426373" y="1084748"/>
          <a:ext cx="1254760" cy="211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7" name="Graphic 26" descr="Group of men">
            <a:extLst>
              <a:ext uri="{FF2B5EF4-FFF2-40B4-BE49-F238E27FC236}">
                <a16:creationId xmlns:a16="http://schemas.microsoft.com/office/drawing/2014/main" id="{8F1BD2A7-C358-41B1-AC35-AE5C8DA1A4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5279" y="838723"/>
            <a:ext cx="457201" cy="457201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73E132F-A5D7-435F-BF8C-8AB3550B4FC7}"/>
              </a:ext>
            </a:extLst>
          </p:cNvPr>
          <p:cNvSpPr txBox="1"/>
          <p:nvPr/>
        </p:nvSpPr>
        <p:spPr>
          <a:xfrm>
            <a:off x="5213593" y="25037"/>
            <a:ext cx="5054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swald" panose="02000503000000000000" pitchFamily="2" charset="0"/>
              </a:rPr>
              <a:t>HSE Monthly Dashboard 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503A2087-9A0C-49A0-B6D6-AA5F208EE9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4245383"/>
              </p:ext>
            </p:extLst>
          </p:nvPr>
        </p:nvGraphicFramePr>
        <p:xfrm>
          <a:off x="4511040" y="1459839"/>
          <a:ext cx="3329940" cy="1306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7B284038-3C9D-4888-B3F1-C0F152909B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1774530"/>
              </p:ext>
            </p:extLst>
          </p:nvPr>
        </p:nvGraphicFramePr>
        <p:xfrm>
          <a:off x="6532759" y="996458"/>
          <a:ext cx="1458716" cy="352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9411BF25-DF55-4BBD-AC31-FFDFB2FBE5E0}"/>
              </a:ext>
            </a:extLst>
          </p:cNvPr>
          <p:cNvGrpSpPr/>
          <p:nvPr/>
        </p:nvGrpSpPr>
        <p:grpSpPr>
          <a:xfrm>
            <a:off x="195579" y="2815476"/>
            <a:ext cx="8220832" cy="1718424"/>
            <a:chOff x="195580" y="847698"/>
            <a:chExt cx="3759200" cy="18881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FB919C8-29D6-4740-B4FC-44FC3EEB9741}"/>
                </a:ext>
              </a:extLst>
            </p:cNvPr>
            <p:cNvSpPr/>
            <p:nvPr/>
          </p:nvSpPr>
          <p:spPr>
            <a:xfrm>
              <a:off x="195580" y="1348488"/>
              <a:ext cx="3759200" cy="13873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  <a:alpha val="8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EE539B76-6237-494D-9E14-EE882ED1B11A}"/>
                </a:ext>
              </a:extLst>
            </p:cNvPr>
            <p:cNvSpPr/>
            <p:nvPr/>
          </p:nvSpPr>
          <p:spPr>
            <a:xfrm>
              <a:off x="195580" y="847698"/>
              <a:ext cx="3759200" cy="61214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Oswald" panose="02000503000000000000" pitchFamily="2" charset="0"/>
                </a:rPr>
                <a:t>                Unsafe Acts /Conditions</a:t>
              </a:r>
            </a:p>
          </p:txBody>
        </p:sp>
      </p:grp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0B8D3CFF-8B26-4993-8B7E-AD92FE01C1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9231733"/>
              </p:ext>
            </p:extLst>
          </p:nvPr>
        </p:nvGraphicFramePr>
        <p:xfrm>
          <a:off x="871955" y="3324121"/>
          <a:ext cx="2575965" cy="1176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F0B6BDC7-5ABC-4481-AC06-71D5F7DB4F5E}"/>
              </a:ext>
            </a:extLst>
          </p:cNvPr>
          <p:cNvSpPr txBox="1"/>
          <p:nvPr/>
        </p:nvSpPr>
        <p:spPr>
          <a:xfrm>
            <a:off x="4971112" y="3452242"/>
            <a:ext cx="134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swald" panose="02000503000000000000" pitchFamily="2" charset="0"/>
              </a:rPr>
              <a:t>Negative</a:t>
            </a:r>
            <a:r>
              <a:rPr lang="en-US" dirty="0"/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7F7FF9-A13B-44F8-B0DF-6F9F00630A8A}"/>
              </a:ext>
            </a:extLst>
          </p:cNvPr>
          <p:cNvSpPr txBox="1"/>
          <p:nvPr/>
        </p:nvSpPr>
        <p:spPr>
          <a:xfrm>
            <a:off x="774501" y="3469149"/>
            <a:ext cx="134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swald" panose="02000503000000000000" pitchFamily="2" charset="0"/>
              </a:rPr>
              <a:t>Positive</a:t>
            </a:r>
            <a:r>
              <a:rPr lang="en-US" dirty="0"/>
              <a:t> </a:t>
            </a:r>
          </a:p>
        </p:txBody>
      </p:sp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351E393D-8F41-4382-9983-B2B6D855AF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077436"/>
              </p:ext>
            </p:extLst>
          </p:nvPr>
        </p:nvGraphicFramePr>
        <p:xfrm>
          <a:off x="5458306" y="3275506"/>
          <a:ext cx="1961669" cy="1338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B7B41A66-19AA-4882-A568-EBDC342304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57507" y="866588"/>
            <a:ext cx="513605" cy="513605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AD2305BC-0163-45E6-8902-BE7C1B23F8DA}"/>
              </a:ext>
            </a:extLst>
          </p:cNvPr>
          <p:cNvGrpSpPr/>
          <p:nvPr/>
        </p:nvGrpSpPr>
        <p:grpSpPr>
          <a:xfrm>
            <a:off x="183010" y="4602666"/>
            <a:ext cx="4078082" cy="2083883"/>
            <a:chOff x="183958" y="855244"/>
            <a:chExt cx="3770822" cy="1880586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66147B1C-102E-4A1F-B1F4-7D68CB3DBECC}"/>
                </a:ext>
              </a:extLst>
            </p:cNvPr>
            <p:cNvSpPr/>
            <p:nvPr/>
          </p:nvSpPr>
          <p:spPr>
            <a:xfrm>
              <a:off x="195580" y="1348488"/>
              <a:ext cx="3759200" cy="13873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  <a:alpha val="8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418CF943-9D19-4F2F-B26F-76F436012155}"/>
                </a:ext>
              </a:extLst>
            </p:cNvPr>
            <p:cNvSpPr/>
            <p:nvPr/>
          </p:nvSpPr>
          <p:spPr>
            <a:xfrm>
              <a:off x="183958" y="855244"/>
              <a:ext cx="3759200" cy="61214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Oswald" panose="02000503000000000000" pitchFamily="2" charset="0"/>
                </a:rPr>
                <a:t>                Safety Observation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ADAA90-FA27-4DD4-B228-0349E155C8DF}"/>
              </a:ext>
            </a:extLst>
          </p:cNvPr>
          <p:cNvGrpSpPr/>
          <p:nvPr/>
        </p:nvGrpSpPr>
        <p:grpSpPr>
          <a:xfrm>
            <a:off x="4350897" y="4594305"/>
            <a:ext cx="4065513" cy="2083884"/>
            <a:chOff x="195580" y="847698"/>
            <a:chExt cx="3759200" cy="1888132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DF04BF50-E789-4F1F-9316-16804230935E}"/>
                </a:ext>
              </a:extLst>
            </p:cNvPr>
            <p:cNvSpPr/>
            <p:nvPr/>
          </p:nvSpPr>
          <p:spPr>
            <a:xfrm>
              <a:off x="195580" y="1348488"/>
              <a:ext cx="3759200" cy="1387342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  <a:alpha val="8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90D08EE-FD80-4D98-988D-FDE0B4E240D5}"/>
                </a:ext>
              </a:extLst>
            </p:cNvPr>
            <p:cNvSpPr/>
            <p:nvPr/>
          </p:nvSpPr>
          <p:spPr>
            <a:xfrm>
              <a:off x="195580" y="847698"/>
              <a:ext cx="3759200" cy="61214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Oswald" panose="02000503000000000000" pitchFamily="2" charset="0"/>
                </a:rPr>
                <a:t>                Training hours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170FE17-B9DD-4572-86B6-6F83485E3600}"/>
              </a:ext>
            </a:extLst>
          </p:cNvPr>
          <p:cNvGrpSpPr/>
          <p:nvPr/>
        </p:nvGrpSpPr>
        <p:grpSpPr>
          <a:xfrm>
            <a:off x="8708389" y="847698"/>
            <a:ext cx="3330062" cy="2581302"/>
            <a:chOff x="8727439" y="847698"/>
            <a:chExt cx="3330062" cy="2524898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E45EA9B-6B37-408E-B86F-782A4854A317}"/>
                </a:ext>
              </a:extLst>
            </p:cNvPr>
            <p:cNvSpPr/>
            <p:nvPr/>
          </p:nvSpPr>
          <p:spPr>
            <a:xfrm>
              <a:off x="8727439" y="1403428"/>
              <a:ext cx="3330062" cy="1969168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FAB67F1-1418-459C-B227-71934DF49D72}"/>
                </a:ext>
              </a:extLst>
            </p:cNvPr>
            <p:cNvSpPr/>
            <p:nvPr/>
          </p:nvSpPr>
          <p:spPr>
            <a:xfrm>
              <a:off x="8727439" y="847698"/>
              <a:ext cx="3330062" cy="61214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Oswald" panose="02000503000000000000" pitchFamily="2" charset="0"/>
                </a:rPr>
                <a:t>            Lost Time Injuries Frequency (LTIF 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EFCE5E1-B211-49B9-A1AE-D0D0256A3485}"/>
              </a:ext>
            </a:extLst>
          </p:cNvPr>
          <p:cNvGrpSpPr/>
          <p:nvPr/>
        </p:nvGrpSpPr>
        <p:grpSpPr>
          <a:xfrm>
            <a:off x="8710994" y="3775955"/>
            <a:ext cx="3371355" cy="2815345"/>
            <a:chOff x="8727439" y="847698"/>
            <a:chExt cx="3330062" cy="252489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6D2D57E-43E6-43A5-BBA2-7B75B1733685}"/>
                </a:ext>
              </a:extLst>
            </p:cNvPr>
            <p:cNvSpPr/>
            <p:nvPr/>
          </p:nvSpPr>
          <p:spPr>
            <a:xfrm>
              <a:off x="8727439" y="1403428"/>
              <a:ext cx="3330062" cy="1969168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32B0AD4-C87B-4D4B-960F-09FCEAA39D30}"/>
                </a:ext>
              </a:extLst>
            </p:cNvPr>
            <p:cNvSpPr/>
            <p:nvPr/>
          </p:nvSpPr>
          <p:spPr>
            <a:xfrm>
              <a:off x="8727439" y="847698"/>
              <a:ext cx="3330062" cy="61214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latin typeface="Oswald" panose="02000503000000000000" pitchFamily="2" charset="0"/>
                </a:rPr>
                <a:t>                Severity (S)</a:t>
              </a:r>
            </a:p>
          </p:txBody>
        </p:sp>
      </p:grpSp>
      <p:graphicFrame>
        <p:nvGraphicFramePr>
          <p:cNvPr id="64" name="Chart 63">
            <a:extLst>
              <a:ext uri="{FF2B5EF4-FFF2-40B4-BE49-F238E27FC236}">
                <a16:creationId xmlns:a16="http://schemas.microsoft.com/office/drawing/2014/main" id="{0FC90189-4700-4B94-ACBE-FF0FDAD05D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158533"/>
              </p:ext>
            </p:extLst>
          </p:nvPr>
        </p:nvGraphicFramePr>
        <p:xfrm>
          <a:off x="240419" y="5045423"/>
          <a:ext cx="4050774" cy="1868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FC77BC3D-5CC9-41F1-8890-6D2AF1D06F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510371"/>
              </p:ext>
            </p:extLst>
          </p:nvPr>
        </p:nvGraphicFramePr>
        <p:xfrm>
          <a:off x="8796926" y="1665636"/>
          <a:ext cx="3199494" cy="17069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66" name="Chart 65">
            <a:extLst>
              <a:ext uri="{FF2B5EF4-FFF2-40B4-BE49-F238E27FC236}">
                <a16:creationId xmlns:a16="http://schemas.microsoft.com/office/drawing/2014/main" id="{9A555BF9-AA76-4EAF-AD30-2BC1B3EACC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1737436"/>
              </p:ext>
            </p:extLst>
          </p:nvPr>
        </p:nvGraphicFramePr>
        <p:xfrm>
          <a:off x="8823045" y="4707478"/>
          <a:ext cx="3147255" cy="1634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3EDDF144-7440-4B95-95E0-42CF645000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039637"/>
              </p:ext>
            </p:extLst>
          </p:nvPr>
        </p:nvGraphicFramePr>
        <p:xfrm>
          <a:off x="4388438" y="5154399"/>
          <a:ext cx="3901951" cy="153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pic>
        <p:nvPicPr>
          <p:cNvPr id="69" name="Graphic 68" descr="Construction worker">
            <a:extLst>
              <a:ext uri="{FF2B5EF4-FFF2-40B4-BE49-F238E27FC236}">
                <a16:creationId xmlns:a16="http://schemas.microsoft.com/office/drawing/2014/main" id="{7EA95165-1D4E-40C4-994C-E71D964B6B0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2999" y="2787227"/>
            <a:ext cx="539448" cy="539448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1" name="Graphic 70" descr="Badge Unfollow">
            <a:extLst>
              <a:ext uri="{FF2B5EF4-FFF2-40B4-BE49-F238E27FC236}">
                <a16:creationId xmlns:a16="http://schemas.microsoft.com/office/drawing/2014/main" id="{8FB76C20-5953-4F6D-9F97-17E06E4CDCB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437639" y="3400845"/>
            <a:ext cx="491088" cy="491088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3" name="Graphic 72" descr="Badge Follow">
            <a:extLst>
              <a:ext uri="{FF2B5EF4-FFF2-40B4-BE49-F238E27FC236}">
                <a16:creationId xmlns:a16="http://schemas.microsoft.com/office/drawing/2014/main" id="{C986F60A-9223-49BF-9804-F6B65AC38E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47819" y="3375027"/>
            <a:ext cx="444948" cy="444948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5" name="Graphic 74" descr="Crash">
            <a:extLst>
              <a:ext uri="{FF2B5EF4-FFF2-40B4-BE49-F238E27FC236}">
                <a16:creationId xmlns:a16="http://schemas.microsoft.com/office/drawing/2014/main" id="{75536173-9DD1-4283-88BE-8400DEF91E1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36021" y="3824985"/>
            <a:ext cx="460379" cy="460379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7" name="Graphic 76" descr="Sling">
            <a:extLst>
              <a:ext uri="{FF2B5EF4-FFF2-40B4-BE49-F238E27FC236}">
                <a16:creationId xmlns:a16="http://schemas.microsoft.com/office/drawing/2014/main" id="{8793A0AC-FF5A-4CD9-8887-36D37C72FDE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796926" y="884989"/>
            <a:ext cx="410185" cy="410185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9" name="Graphic 78" descr="Clipboard">
            <a:extLst>
              <a:ext uri="{FF2B5EF4-FFF2-40B4-BE49-F238E27FC236}">
                <a16:creationId xmlns:a16="http://schemas.microsoft.com/office/drawing/2014/main" id="{FD89EDEF-7E15-448B-B15F-3865D3ED89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47819" y="4656202"/>
            <a:ext cx="458646" cy="458646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1" name="Graphic 80" descr="Teacher">
            <a:extLst>
              <a:ext uri="{FF2B5EF4-FFF2-40B4-BE49-F238E27FC236}">
                <a16:creationId xmlns:a16="http://schemas.microsoft.com/office/drawing/2014/main" id="{51C3F7F8-4044-41D6-B384-6D3BE7E3562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4740" y="4615609"/>
            <a:ext cx="539832" cy="539832"/>
          </a:xfrm>
          <a:prstGeom prst="rect">
            <a:avLst/>
          </a:prstGeom>
          <a:effectLst>
            <a:outerShdw blurRad="50800" dist="63500" dir="8100000" algn="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82" name="Chart 81">
            <a:extLst>
              <a:ext uri="{FF2B5EF4-FFF2-40B4-BE49-F238E27FC236}">
                <a16:creationId xmlns:a16="http://schemas.microsoft.com/office/drawing/2014/main" id="{946B1BBA-27E3-48CF-AB20-0D4F9616C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1666196"/>
              </p:ext>
            </p:extLst>
          </p:nvPr>
        </p:nvGraphicFramePr>
        <p:xfrm>
          <a:off x="3204729" y="2954726"/>
          <a:ext cx="1409700" cy="280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graphicFrame>
        <p:nvGraphicFramePr>
          <p:cNvPr id="83" name="Chart 82">
            <a:extLst>
              <a:ext uri="{FF2B5EF4-FFF2-40B4-BE49-F238E27FC236}">
                <a16:creationId xmlns:a16="http://schemas.microsoft.com/office/drawing/2014/main" id="{4063B420-06CC-4594-950D-DDD505C8D2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650857"/>
              </p:ext>
            </p:extLst>
          </p:nvPr>
        </p:nvGraphicFramePr>
        <p:xfrm>
          <a:off x="6297486" y="4669133"/>
          <a:ext cx="1693989" cy="455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80F9219E-E3C7-40B1-88D9-9535486700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28172"/>
              </p:ext>
            </p:extLst>
          </p:nvPr>
        </p:nvGraphicFramePr>
        <p:xfrm>
          <a:off x="1764549" y="4690080"/>
          <a:ext cx="2880360" cy="44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graphicFrame>
        <p:nvGraphicFramePr>
          <p:cNvPr id="68" name="Chart 67">
            <a:extLst>
              <a:ext uri="{FF2B5EF4-FFF2-40B4-BE49-F238E27FC236}">
                <a16:creationId xmlns:a16="http://schemas.microsoft.com/office/drawing/2014/main" id="{8E791569-0B21-49D3-8294-902618F565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039444"/>
              </p:ext>
            </p:extLst>
          </p:nvPr>
        </p:nvGraphicFramePr>
        <p:xfrm>
          <a:off x="1510941" y="3838481"/>
          <a:ext cx="1341120" cy="450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graphicFrame>
        <p:nvGraphicFramePr>
          <p:cNvPr id="70" name="Chart 69">
            <a:extLst>
              <a:ext uri="{FF2B5EF4-FFF2-40B4-BE49-F238E27FC236}">
                <a16:creationId xmlns:a16="http://schemas.microsoft.com/office/drawing/2014/main" id="{44ED4E6B-54AF-4BF5-9D9A-47E996932D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8000559"/>
              </p:ext>
            </p:extLst>
          </p:nvPr>
        </p:nvGraphicFramePr>
        <p:xfrm>
          <a:off x="5682433" y="3759784"/>
          <a:ext cx="1341121" cy="557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graphicFrame>
        <p:nvGraphicFramePr>
          <p:cNvPr id="72" name="Chart 71">
            <a:extLst>
              <a:ext uri="{FF2B5EF4-FFF2-40B4-BE49-F238E27FC236}">
                <a16:creationId xmlns:a16="http://schemas.microsoft.com/office/drawing/2014/main" id="{E87CDBCA-5D4F-437C-8735-BC3B11EB25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635941"/>
              </p:ext>
            </p:extLst>
          </p:nvPr>
        </p:nvGraphicFramePr>
        <p:xfrm>
          <a:off x="934322" y="162730"/>
          <a:ext cx="2670230" cy="4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</p:spTree>
    <p:extLst>
      <p:ext uri="{BB962C8B-B14F-4D97-AF65-F5344CB8AC3E}">
        <p14:creationId xmlns:p14="http://schemas.microsoft.com/office/powerpoint/2010/main" val="149197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3000">
              <a:srgbClr val="FF0066"/>
            </a:gs>
            <a:gs pos="31000">
              <a:srgbClr val="FF6600"/>
            </a:gs>
            <a:gs pos="95000">
              <a:srgbClr val="EE39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AD1C8BDB-9310-40D3-9F83-846BB59D009C}"/>
              </a:ext>
            </a:extLst>
          </p:cNvPr>
          <p:cNvGrpSpPr/>
          <p:nvPr/>
        </p:nvGrpSpPr>
        <p:grpSpPr>
          <a:xfrm>
            <a:off x="52081" y="865452"/>
            <a:ext cx="8412480" cy="5943600"/>
            <a:chOff x="52081" y="865452"/>
            <a:chExt cx="8412480" cy="59436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A90A888-4258-446C-A880-9E1B75CF67E4}"/>
                </a:ext>
              </a:extLst>
            </p:cNvPr>
            <p:cNvSpPr/>
            <p:nvPr/>
          </p:nvSpPr>
          <p:spPr>
            <a:xfrm>
              <a:off x="52081" y="865452"/>
              <a:ext cx="8412480" cy="5943600"/>
            </a:xfrm>
            <a:prstGeom prst="roundRect">
              <a:avLst>
                <a:gd name="adj" fmla="val 4204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635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7BDF4AE-9374-4FBF-8740-67599116ECED}"/>
                </a:ext>
              </a:extLst>
            </p:cNvPr>
            <p:cNvGrpSpPr/>
            <p:nvPr/>
          </p:nvGrpSpPr>
          <p:grpSpPr>
            <a:xfrm>
              <a:off x="172720" y="1018560"/>
              <a:ext cx="4023360" cy="2011680"/>
              <a:chOff x="172720" y="1018560"/>
              <a:chExt cx="4287520" cy="2283440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6A8C11D-ADC5-4FA5-918D-8372E98AF253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2283440"/>
              </a:xfrm>
              <a:prstGeom prst="roundRect">
                <a:avLst>
                  <a:gd name="adj" fmla="val 6654"/>
                </a:avLst>
              </a:prstGeom>
              <a:solidFill>
                <a:srgbClr val="2B5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34E6E44-4A5F-4795-8F08-64BC03BECC65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789920"/>
              </a:xfrm>
              <a:prstGeom prst="roundRect">
                <a:avLst>
                  <a:gd name="adj" fmla="val 13085"/>
                </a:avLst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085D2DF-9FBA-4FEC-A427-825B200C33A0}"/>
                </a:ext>
              </a:extLst>
            </p:cNvPr>
            <p:cNvGrpSpPr/>
            <p:nvPr/>
          </p:nvGrpSpPr>
          <p:grpSpPr>
            <a:xfrm>
              <a:off x="4297680" y="1018560"/>
              <a:ext cx="4023360" cy="2011680"/>
              <a:chOff x="172720" y="1018560"/>
              <a:chExt cx="4287520" cy="2283440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D2AFB0C-1190-48BF-A253-003034F5D41F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2283440"/>
              </a:xfrm>
              <a:prstGeom prst="roundRect">
                <a:avLst>
                  <a:gd name="adj" fmla="val 6654"/>
                </a:avLst>
              </a:prstGeom>
              <a:solidFill>
                <a:srgbClr val="2B5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AFCB58B-F201-42D6-9D24-6428C6A84069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789920"/>
              </a:xfrm>
              <a:prstGeom prst="roundRect">
                <a:avLst>
                  <a:gd name="adj" fmla="val 13085"/>
                </a:avLst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698789-10DE-4549-A232-6BEC941FEEE5}"/>
                </a:ext>
              </a:extLst>
            </p:cNvPr>
            <p:cNvGrpSpPr/>
            <p:nvPr/>
          </p:nvGrpSpPr>
          <p:grpSpPr>
            <a:xfrm>
              <a:off x="188601" y="3158670"/>
              <a:ext cx="8078482" cy="1392299"/>
              <a:chOff x="172720" y="1018558"/>
              <a:chExt cx="4287520" cy="2283442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2985EC1A-C3E6-476A-8670-064E235DC2EA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2283440"/>
              </a:xfrm>
              <a:prstGeom prst="roundRect">
                <a:avLst>
                  <a:gd name="adj" fmla="val 6654"/>
                </a:avLst>
              </a:prstGeom>
              <a:solidFill>
                <a:srgbClr val="2B5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FA5066C-883B-4C7F-9F7F-B6E8E0AA10CA}"/>
                  </a:ext>
                </a:extLst>
              </p:cNvPr>
              <p:cNvSpPr/>
              <p:nvPr/>
            </p:nvSpPr>
            <p:spPr>
              <a:xfrm>
                <a:off x="172720" y="1018558"/>
                <a:ext cx="4287520" cy="818440"/>
              </a:xfrm>
              <a:prstGeom prst="roundRect">
                <a:avLst>
                  <a:gd name="adj" fmla="val 13085"/>
                </a:avLst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163A6B9-01FF-4F6A-8DF0-3368F9551330}"/>
                </a:ext>
              </a:extLst>
            </p:cNvPr>
            <p:cNvGrpSpPr/>
            <p:nvPr/>
          </p:nvGrpSpPr>
          <p:grpSpPr>
            <a:xfrm>
              <a:off x="102882" y="4726441"/>
              <a:ext cx="4023360" cy="2011680"/>
              <a:chOff x="172720" y="1018560"/>
              <a:chExt cx="4287520" cy="2283440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E7010515-7575-4031-94BB-872909B43D1A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2283440"/>
              </a:xfrm>
              <a:prstGeom prst="roundRect">
                <a:avLst>
                  <a:gd name="adj" fmla="val 6654"/>
                </a:avLst>
              </a:prstGeom>
              <a:solidFill>
                <a:srgbClr val="2B5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0DCBE902-1256-41A8-B121-E2915E0C658F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789920"/>
              </a:xfrm>
              <a:prstGeom prst="roundRect">
                <a:avLst>
                  <a:gd name="adj" fmla="val 13085"/>
                </a:avLst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381621-663E-4762-8359-CDDB8F6CC155}"/>
                </a:ext>
              </a:extLst>
            </p:cNvPr>
            <p:cNvGrpSpPr/>
            <p:nvPr/>
          </p:nvGrpSpPr>
          <p:grpSpPr>
            <a:xfrm>
              <a:off x="4227842" y="4726441"/>
              <a:ext cx="4023360" cy="2011680"/>
              <a:chOff x="172720" y="1018560"/>
              <a:chExt cx="4287520" cy="2283440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0FBABA43-495A-468C-8A78-F76310829E3F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2283440"/>
              </a:xfrm>
              <a:prstGeom prst="roundRect">
                <a:avLst>
                  <a:gd name="adj" fmla="val 6654"/>
                </a:avLst>
              </a:prstGeom>
              <a:solidFill>
                <a:srgbClr val="2B5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941644EA-C923-4D94-9488-924A51ED32F6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789920"/>
              </a:xfrm>
              <a:prstGeom prst="roundRect">
                <a:avLst>
                  <a:gd name="adj" fmla="val 13085"/>
                </a:avLst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74C945-97DF-4626-87B6-959864A493A4}"/>
              </a:ext>
            </a:extLst>
          </p:cNvPr>
          <p:cNvGrpSpPr/>
          <p:nvPr/>
        </p:nvGrpSpPr>
        <p:grpSpPr>
          <a:xfrm>
            <a:off x="8534398" y="847460"/>
            <a:ext cx="3605520" cy="5981912"/>
            <a:chOff x="8534398" y="847460"/>
            <a:chExt cx="3605520" cy="598191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F8F11AF-5869-43CF-B416-ABD30E77C13D}"/>
                </a:ext>
              </a:extLst>
            </p:cNvPr>
            <p:cNvSpPr/>
            <p:nvPr/>
          </p:nvSpPr>
          <p:spPr>
            <a:xfrm>
              <a:off x="8534399" y="847460"/>
              <a:ext cx="3605519" cy="2974552"/>
            </a:xfrm>
            <a:prstGeom prst="roundRect">
              <a:avLst>
                <a:gd name="adj" fmla="val 4546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635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161FDBA-DA04-4F8A-9228-08C3C6B9A997}"/>
                </a:ext>
              </a:extLst>
            </p:cNvPr>
            <p:cNvSpPr/>
            <p:nvPr/>
          </p:nvSpPr>
          <p:spPr>
            <a:xfrm>
              <a:off x="8534398" y="3854820"/>
              <a:ext cx="3605519" cy="2974552"/>
            </a:xfrm>
            <a:prstGeom prst="roundRect">
              <a:avLst>
                <a:gd name="adj" fmla="val 4546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635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F004311-43A4-401A-B6F4-69DF48748D9A}"/>
                </a:ext>
              </a:extLst>
            </p:cNvPr>
            <p:cNvGrpSpPr/>
            <p:nvPr/>
          </p:nvGrpSpPr>
          <p:grpSpPr>
            <a:xfrm>
              <a:off x="8645517" y="4003318"/>
              <a:ext cx="3383280" cy="2651760"/>
              <a:chOff x="172720" y="1018560"/>
              <a:chExt cx="4287520" cy="2283440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75BD671B-4F0E-47DC-BE3E-7E069E902DF6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2283440"/>
              </a:xfrm>
              <a:prstGeom prst="roundRect">
                <a:avLst>
                  <a:gd name="adj" fmla="val 6654"/>
                </a:avLst>
              </a:prstGeom>
              <a:solidFill>
                <a:srgbClr val="2B5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7E0259FA-4528-4201-A04D-FE28B40708A9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622684"/>
              </a:xfrm>
              <a:prstGeom prst="roundRect">
                <a:avLst>
                  <a:gd name="adj" fmla="val 13085"/>
                </a:avLst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CF34377-9654-4043-A1C8-7C8E1334D328}"/>
                </a:ext>
              </a:extLst>
            </p:cNvPr>
            <p:cNvGrpSpPr/>
            <p:nvPr/>
          </p:nvGrpSpPr>
          <p:grpSpPr>
            <a:xfrm>
              <a:off x="8645517" y="951458"/>
              <a:ext cx="3383280" cy="2651760"/>
              <a:chOff x="172720" y="1018560"/>
              <a:chExt cx="4287520" cy="2283440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0BED6349-85A4-4D86-ABFB-6527D2DAF49A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2283440"/>
              </a:xfrm>
              <a:prstGeom prst="roundRect">
                <a:avLst>
                  <a:gd name="adj" fmla="val 6654"/>
                </a:avLst>
              </a:prstGeom>
              <a:solidFill>
                <a:srgbClr val="2B5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95291F3A-CA36-4DF5-A6FD-964ACA325BE8}"/>
                  </a:ext>
                </a:extLst>
              </p:cNvPr>
              <p:cNvSpPr/>
              <p:nvPr/>
            </p:nvSpPr>
            <p:spPr>
              <a:xfrm>
                <a:off x="172720" y="1018560"/>
                <a:ext cx="4287520" cy="536762"/>
              </a:xfrm>
              <a:prstGeom prst="roundRect">
                <a:avLst>
                  <a:gd name="adj" fmla="val 13085"/>
                </a:avLst>
              </a:prstGeom>
              <a:solidFill>
                <a:srgbClr val="20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51F1D0B-F678-497D-AE96-5A474489726E}"/>
              </a:ext>
            </a:extLst>
          </p:cNvPr>
          <p:cNvGrpSpPr/>
          <p:nvPr/>
        </p:nvGrpSpPr>
        <p:grpSpPr>
          <a:xfrm>
            <a:off x="52083" y="61902"/>
            <a:ext cx="3483598" cy="723656"/>
            <a:chOff x="52083" y="61902"/>
            <a:chExt cx="3483598" cy="7236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2992153-B57D-4360-80E5-1037539AF55C}"/>
                </a:ext>
              </a:extLst>
            </p:cNvPr>
            <p:cNvSpPr/>
            <p:nvPr/>
          </p:nvSpPr>
          <p:spPr>
            <a:xfrm>
              <a:off x="52083" y="61902"/>
              <a:ext cx="3483598" cy="723656"/>
            </a:xfrm>
            <a:prstGeom prst="roundRect">
              <a:avLst>
                <a:gd name="adj" fmla="val 15778"/>
              </a:avLst>
            </a:prstGeom>
            <a:solidFill>
              <a:schemeClr val="tx1"/>
            </a:solidFill>
            <a:ln>
              <a:noFill/>
            </a:ln>
            <a:effectLst>
              <a:outerShdw blurRad="50800" dist="635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B20CF51-E75E-4A4E-ADD6-752E388CC7A4}"/>
                </a:ext>
              </a:extLst>
            </p:cNvPr>
            <p:cNvSpPr/>
            <p:nvPr/>
          </p:nvSpPr>
          <p:spPr>
            <a:xfrm>
              <a:off x="153042" y="126315"/>
              <a:ext cx="3281680" cy="527420"/>
            </a:xfrm>
            <a:prstGeom prst="roundRect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9996CC9-3C71-4E1F-B2C3-92453F0203B6}"/>
              </a:ext>
            </a:extLst>
          </p:cNvPr>
          <p:cNvSpPr txBox="1"/>
          <p:nvPr/>
        </p:nvSpPr>
        <p:spPr>
          <a:xfrm>
            <a:off x="792480" y="184773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Date :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11F750-5C2B-41B2-B927-1BC0FFA04118}"/>
              </a:ext>
            </a:extLst>
          </p:cNvPr>
          <p:cNvSpPr txBox="1"/>
          <p:nvPr/>
        </p:nvSpPr>
        <p:spPr>
          <a:xfrm>
            <a:off x="792480" y="1107425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Total Manpower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0F5AD8-A0DA-435B-B1CF-266CB804750C}"/>
              </a:ext>
            </a:extLst>
          </p:cNvPr>
          <p:cNvSpPr txBox="1"/>
          <p:nvPr/>
        </p:nvSpPr>
        <p:spPr>
          <a:xfrm>
            <a:off x="4881877" y="1107425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Total Manhours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0A2A35-CB48-4D40-A608-C48DCDBDEDF0}"/>
              </a:ext>
            </a:extLst>
          </p:cNvPr>
          <p:cNvSpPr txBox="1"/>
          <p:nvPr/>
        </p:nvSpPr>
        <p:spPr>
          <a:xfrm>
            <a:off x="753282" y="4889337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Safety Observations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AB90FF-E090-4602-BB27-EB7E775EDAFE}"/>
              </a:ext>
            </a:extLst>
          </p:cNvPr>
          <p:cNvSpPr txBox="1"/>
          <p:nvPr/>
        </p:nvSpPr>
        <p:spPr>
          <a:xfrm>
            <a:off x="4949041" y="4860375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Training Hours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6BE63A-826D-46C6-9B85-6CD7EEA1CB62}"/>
              </a:ext>
            </a:extLst>
          </p:cNvPr>
          <p:cNvSpPr txBox="1"/>
          <p:nvPr/>
        </p:nvSpPr>
        <p:spPr>
          <a:xfrm>
            <a:off x="773539" y="3183348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Unsafe Acts/Conditions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5EAB91-1901-437B-BD00-B77711CD764A}"/>
              </a:ext>
            </a:extLst>
          </p:cNvPr>
          <p:cNvSpPr txBox="1"/>
          <p:nvPr/>
        </p:nvSpPr>
        <p:spPr>
          <a:xfrm>
            <a:off x="9159765" y="948789"/>
            <a:ext cx="275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Lost Time Injuries Frequency (LTIF)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8C9E72-6A1C-4DC5-8A2B-7BB605E35371}"/>
              </a:ext>
            </a:extLst>
          </p:cNvPr>
          <p:cNvSpPr txBox="1"/>
          <p:nvPr/>
        </p:nvSpPr>
        <p:spPr>
          <a:xfrm>
            <a:off x="9425944" y="4129186"/>
            <a:ext cx="236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Severity (S)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F83B1E-43B3-473C-A1AF-652E3435E8E9}"/>
              </a:ext>
            </a:extLst>
          </p:cNvPr>
          <p:cNvSpPr txBox="1"/>
          <p:nvPr/>
        </p:nvSpPr>
        <p:spPr>
          <a:xfrm>
            <a:off x="792480" y="3730085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Positive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28CE72-FF50-4A1A-95AF-77FC739F50EC}"/>
              </a:ext>
            </a:extLst>
          </p:cNvPr>
          <p:cNvSpPr txBox="1"/>
          <p:nvPr/>
        </p:nvSpPr>
        <p:spPr>
          <a:xfrm>
            <a:off x="4988239" y="3789949"/>
            <a:ext cx="2642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swald" panose="02000503000000000000" pitchFamily="2" charset="0"/>
              </a:rPr>
              <a:t>Negative</a:t>
            </a:r>
          </a:p>
        </p:txBody>
      </p:sp>
      <p:pic>
        <p:nvPicPr>
          <p:cNvPr id="47" name="Graphic 46" descr="Daily calendar">
            <a:extLst>
              <a:ext uri="{FF2B5EF4-FFF2-40B4-BE49-F238E27FC236}">
                <a16:creationId xmlns:a16="http://schemas.microsoft.com/office/drawing/2014/main" id="{F50C1F45-84FB-4124-8DF6-836BC9A9B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111" y="83433"/>
            <a:ext cx="495300" cy="4953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8" name="Graphic 47" descr="Group of men">
            <a:extLst>
              <a:ext uri="{FF2B5EF4-FFF2-40B4-BE49-F238E27FC236}">
                <a16:creationId xmlns:a16="http://schemas.microsoft.com/office/drawing/2014/main" id="{B028E85E-EEBE-4C1A-ADC5-360D78B9F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4245" y="1051045"/>
            <a:ext cx="457201" cy="45720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9" name="Graphic 48" descr="Clock">
            <a:extLst>
              <a:ext uri="{FF2B5EF4-FFF2-40B4-BE49-F238E27FC236}">
                <a16:creationId xmlns:a16="http://schemas.microsoft.com/office/drawing/2014/main" id="{28BE6427-E3B8-4945-8C00-5B26B72AC7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8875" y="1019477"/>
            <a:ext cx="513605" cy="51360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0" name="Graphic 49" descr="Construction worker">
            <a:extLst>
              <a:ext uri="{FF2B5EF4-FFF2-40B4-BE49-F238E27FC236}">
                <a16:creationId xmlns:a16="http://schemas.microsoft.com/office/drawing/2014/main" id="{F664DE05-2163-4CF9-87FB-E992E8A213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3032" y="3051257"/>
            <a:ext cx="539448" cy="53944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1" name="Graphic 50" descr="Badge Unfollow">
            <a:extLst>
              <a:ext uri="{FF2B5EF4-FFF2-40B4-BE49-F238E27FC236}">
                <a16:creationId xmlns:a16="http://schemas.microsoft.com/office/drawing/2014/main" id="{17D0F937-8B56-44DF-A89A-9AF5063042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45217" y="3668193"/>
            <a:ext cx="491088" cy="49108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2" name="Graphic 51" descr="Badge Follow">
            <a:extLst>
              <a:ext uri="{FF2B5EF4-FFF2-40B4-BE49-F238E27FC236}">
                <a16:creationId xmlns:a16="http://schemas.microsoft.com/office/drawing/2014/main" id="{7F3A1D25-AA8A-4BA0-ACAB-380273A05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899" y="3645723"/>
            <a:ext cx="444948" cy="44494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3" name="Graphic 52" descr="Crash">
            <a:extLst>
              <a:ext uri="{FF2B5EF4-FFF2-40B4-BE49-F238E27FC236}">
                <a16:creationId xmlns:a16="http://schemas.microsoft.com/office/drawing/2014/main" id="{B995DEF3-F64D-4172-BBD9-0F30C91114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05541" y="4003318"/>
            <a:ext cx="460379" cy="46037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4" name="Graphic 53" descr="Sling">
            <a:extLst>
              <a:ext uri="{FF2B5EF4-FFF2-40B4-BE49-F238E27FC236}">
                <a16:creationId xmlns:a16="http://schemas.microsoft.com/office/drawing/2014/main" id="{9C1E6C00-2C00-4EBD-A31F-9DCADCC525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39305" y="975927"/>
            <a:ext cx="410185" cy="41018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5" name="Graphic 54" descr="Clipboard">
            <a:extLst>
              <a:ext uri="{FF2B5EF4-FFF2-40B4-BE49-F238E27FC236}">
                <a16:creationId xmlns:a16="http://schemas.microsoft.com/office/drawing/2014/main" id="{8A2DED4E-1CC0-46F7-A6E6-A5E85D81162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84843" y="4815718"/>
            <a:ext cx="458646" cy="45864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6" name="Graphic 55" descr="Teacher">
            <a:extLst>
              <a:ext uri="{FF2B5EF4-FFF2-40B4-BE49-F238E27FC236}">
                <a16:creationId xmlns:a16="http://schemas.microsoft.com/office/drawing/2014/main" id="{D21DE685-9800-43BC-AF51-D8B9C9CA954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53650" y="4775125"/>
            <a:ext cx="539832" cy="53983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2207B2C-B617-478F-A7F7-9639CF961491}"/>
              </a:ext>
            </a:extLst>
          </p:cNvPr>
          <p:cNvSpPr txBox="1"/>
          <p:nvPr/>
        </p:nvSpPr>
        <p:spPr>
          <a:xfrm>
            <a:off x="4917847" y="13608"/>
            <a:ext cx="5694683" cy="707886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Oswald" panose="02000503000000000000" pitchFamily="2" charset="0"/>
              </a:rPr>
              <a:t>HSE Monthly Dashboard </a:t>
            </a:r>
          </a:p>
        </p:txBody>
      </p:sp>
      <p:graphicFrame>
        <p:nvGraphicFramePr>
          <p:cNvPr id="60" name="Chart 59">
            <a:extLst>
              <a:ext uri="{FF2B5EF4-FFF2-40B4-BE49-F238E27FC236}">
                <a16:creationId xmlns:a16="http://schemas.microsoft.com/office/drawing/2014/main" id="{CA9BAFAE-E324-4FA3-9118-28C5F581D7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5047138"/>
              </p:ext>
            </p:extLst>
          </p:nvPr>
        </p:nvGraphicFramePr>
        <p:xfrm>
          <a:off x="1034272" y="164634"/>
          <a:ext cx="2361251" cy="472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:a16="http://schemas.microsoft.com/office/drawing/2014/main" id="{7615D17F-1A2B-4217-8844-4BD5BD6C8D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1964176"/>
              </p:ext>
            </p:extLst>
          </p:nvPr>
        </p:nvGraphicFramePr>
        <p:xfrm>
          <a:off x="2015958" y="1183493"/>
          <a:ext cx="1562100" cy="38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aphicFrame>
        <p:nvGraphicFramePr>
          <p:cNvPr id="63" name="Chart 62">
            <a:extLst>
              <a:ext uri="{FF2B5EF4-FFF2-40B4-BE49-F238E27FC236}">
                <a16:creationId xmlns:a16="http://schemas.microsoft.com/office/drawing/2014/main" id="{DEF6C211-077D-49C6-B2FA-BF7EE2250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7472449"/>
              </p:ext>
            </p:extLst>
          </p:nvPr>
        </p:nvGraphicFramePr>
        <p:xfrm>
          <a:off x="329609" y="1605515"/>
          <a:ext cx="3700132" cy="1403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aphicFrame>
        <p:nvGraphicFramePr>
          <p:cNvPr id="64" name="Chart 63">
            <a:extLst>
              <a:ext uri="{FF2B5EF4-FFF2-40B4-BE49-F238E27FC236}">
                <a16:creationId xmlns:a16="http://schemas.microsoft.com/office/drawing/2014/main" id="{7D7C0393-9F83-492C-BBBF-1AC4994A7D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27228"/>
              </p:ext>
            </p:extLst>
          </p:nvPr>
        </p:nvGraphicFramePr>
        <p:xfrm>
          <a:off x="5990200" y="1155132"/>
          <a:ext cx="205740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B7AC506A-85D7-4714-B7FC-B86D2C4477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668158"/>
              </p:ext>
            </p:extLst>
          </p:nvPr>
        </p:nvGraphicFramePr>
        <p:xfrm>
          <a:off x="4352969" y="1693032"/>
          <a:ext cx="4023360" cy="1316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graphicFrame>
        <p:nvGraphicFramePr>
          <p:cNvPr id="66" name="Chart 65">
            <a:extLst>
              <a:ext uri="{FF2B5EF4-FFF2-40B4-BE49-F238E27FC236}">
                <a16:creationId xmlns:a16="http://schemas.microsoft.com/office/drawing/2014/main" id="{0C6CDB85-D713-455C-A660-7BB8CB081B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465394"/>
              </p:ext>
            </p:extLst>
          </p:nvPr>
        </p:nvGraphicFramePr>
        <p:xfrm>
          <a:off x="2347170" y="3180070"/>
          <a:ext cx="2506175" cy="359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BEC1444C-7037-4687-AD7A-594FE8E8BC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5216301"/>
              </p:ext>
            </p:extLst>
          </p:nvPr>
        </p:nvGraphicFramePr>
        <p:xfrm>
          <a:off x="1500612" y="3539723"/>
          <a:ext cx="1997474" cy="1125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graphicFrame>
        <p:nvGraphicFramePr>
          <p:cNvPr id="68" name="Chart 67">
            <a:extLst>
              <a:ext uri="{FF2B5EF4-FFF2-40B4-BE49-F238E27FC236}">
                <a16:creationId xmlns:a16="http://schemas.microsoft.com/office/drawing/2014/main" id="{2861DF5A-0D88-42C0-A9CA-9640A212A2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092422"/>
              </p:ext>
            </p:extLst>
          </p:nvPr>
        </p:nvGraphicFramePr>
        <p:xfrm>
          <a:off x="1464979" y="3943941"/>
          <a:ext cx="1981200" cy="388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aphicFrame>
        <p:nvGraphicFramePr>
          <p:cNvPr id="69" name="Chart 68">
            <a:extLst>
              <a:ext uri="{FF2B5EF4-FFF2-40B4-BE49-F238E27FC236}">
                <a16:creationId xmlns:a16="http://schemas.microsoft.com/office/drawing/2014/main" id="{55221A6E-F863-4A70-8964-8273F9B1C8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440779"/>
              </p:ext>
            </p:extLst>
          </p:nvPr>
        </p:nvGraphicFramePr>
        <p:xfrm>
          <a:off x="5611156" y="3550737"/>
          <a:ext cx="1782496" cy="1069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graphicFrame>
        <p:nvGraphicFramePr>
          <p:cNvPr id="70" name="Chart 69">
            <a:extLst>
              <a:ext uri="{FF2B5EF4-FFF2-40B4-BE49-F238E27FC236}">
                <a16:creationId xmlns:a16="http://schemas.microsoft.com/office/drawing/2014/main" id="{5708D8C2-D790-43BC-AF3A-367F77EFDB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54631"/>
              </p:ext>
            </p:extLst>
          </p:nvPr>
        </p:nvGraphicFramePr>
        <p:xfrm>
          <a:off x="5424493" y="3921097"/>
          <a:ext cx="2286000" cy="388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graphicFrame>
        <p:nvGraphicFramePr>
          <p:cNvPr id="71" name="Chart 70">
            <a:extLst>
              <a:ext uri="{FF2B5EF4-FFF2-40B4-BE49-F238E27FC236}">
                <a16:creationId xmlns:a16="http://schemas.microsoft.com/office/drawing/2014/main" id="{0C6CDB85-D713-455C-A660-7BB8CB081B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2273931"/>
              </p:ext>
            </p:extLst>
          </p:nvPr>
        </p:nvGraphicFramePr>
        <p:xfrm>
          <a:off x="2068360" y="4980740"/>
          <a:ext cx="2113442" cy="446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graphicFrame>
        <p:nvGraphicFramePr>
          <p:cNvPr id="72" name="Chart 71">
            <a:extLst>
              <a:ext uri="{FF2B5EF4-FFF2-40B4-BE49-F238E27FC236}">
                <a16:creationId xmlns:a16="http://schemas.microsoft.com/office/drawing/2014/main" id="{630F3115-6BB4-4846-9F14-BD01A34F8F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1246192"/>
              </p:ext>
            </p:extLst>
          </p:nvPr>
        </p:nvGraphicFramePr>
        <p:xfrm>
          <a:off x="102882" y="5394070"/>
          <a:ext cx="3876683" cy="1442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graphicFrame>
        <p:nvGraphicFramePr>
          <p:cNvPr id="73" name="Chart 72">
            <a:extLst>
              <a:ext uri="{FF2B5EF4-FFF2-40B4-BE49-F238E27FC236}">
                <a16:creationId xmlns:a16="http://schemas.microsoft.com/office/drawing/2014/main" id="{570FC1FC-67B1-4575-A932-E37A182083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41699"/>
              </p:ext>
            </p:extLst>
          </p:nvPr>
        </p:nvGraphicFramePr>
        <p:xfrm>
          <a:off x="5863843" y="4869469"/>
          <a:ext cx="205740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graphicFrame>
        <p:nvGraphicFramePr>
          <p:cNvPr id="74" name="Chart 73">
            <a:extLst>
              <a:ext uri="{FF2B5EF4-FFF2-40B4-BE49-F238E27FC236}">
                <a16:creationId xmlns:a16="http://schemas.microsoft.com/office/drawing/2014/main" id="{D2F85674-92B3-4FB2-8847-B61EDE053D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862965"/>
              </p:ext>
            </p:extLst>
          </p:nvPr>
        </p:nvGraphicFramePr>
        <p:xfrm>
          <a:off x="4177043" y="5425419"/>
          <a:ext cx="4090040" cy="13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graphicFrame>
        <p:nvGraphicFramePr>
          <p:cNvPr id="75" name="Chart 74">
            <a:extLst>
              <a:ext uri="{FF2B5EF4-FFF2-40B4-BE49-F238E27FC236}">
                <a16:creationId xmlns:a16="http://schemas.microsoft.com/office/drawing/2014/main" id="{CD1959A5-81C6-4A6F-8572-5A7F9348A8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0097400"/>
              </p:ext>
            </p:extLst>
          </p:nvPr>
        </p:nvGraphicFramePr>
        <p:xfrm>
          <a:off x="8811923" y="1891916"/>
          <a:ext cx="3216874" cy="1354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graphicFrame>
        <p:nvGraphicFramePr>
          <p:cNvPr id="76" name="Chart 75">
            <a:extLst>
              <a:ext uri="{FF2B5EF4-FFF2-40B4-BE49-F238E27FC236}">
                <a16:creationId xmlns:a16="http://schemas.microsoft.com/office/drawing/2014/main" id="{756EF56C-9318-4801-968A-661E973585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5627849"/>
              </p:ext>
            </p:extLst>
          </p:nvPr>
        </p:nvGraphicFramePr>
        <p:xfrm>
          <a:off x="8739306" y="4815717"/>
          <a:ext cx="3349812" cy="1717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</p:spTree>
    <p:extLst>
      <p:ext uri="{BB962C8B-B14F-4D97-AF65-F5344CB8AC3E}">
        <p14:creationId xmlns:p14="http://schemas.microsoft.com/office/powerpoint/2010/main" val="375297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46C5B99FC1A649B1DD4A31F916756A" ma:contentTypeVersion="4" ma:contentTypeDescription="Create a new document." ma:contentTypeScope="" ma:versionID="8fed4a6114afb5bad91f19fe2ff446d9">
  <xsd:schema xmlns:xsd="http://www.w3.org/2001/XMLSchema" xmlns:xs="http://www.w3.org/2001/XMLSchema" xmlns:p="http://schemas.microsoft.com/office/2006/metadata/properties" xmlns:ns3="a52ccb8d-a0dd-4ff7-b279-8401d8e01e08" targetNamespace="http://schemas.microsoft.com/office/2006/metadata/properties" ma:root="true" ma:fieldsID="4c3d505e9032a9c7431ba57d82211d01" ns3:_="">
    <xsd:import namespace="a52ccb8d-a0dd-4ff7-b279-8401d8e01e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2ccb8d-a0dd-4ff7-b279-8401d8e01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3969C0-3831-4EF0-AEFF-25F20E9319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2ccb8d-a0dd-4ff7-b279-8401d8e01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9679B7-BD8A-4799-BA69-3DDAC5EAB2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9F0DD7-4CF4-449E-8B75-7F0801D0CC55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a52ccb8d-a0dd-4ff7-b279-8401d8e01e08"/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80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Oswald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Khaled Ismail</dc:creator>
  <cp:lastModifiedBy>Khaled Ismail</cp:lastModifiedBy>
  <cp:revision>29</cp:revision>
  <dcterms:created xsi:type="dcterms:W3CDTF">2020-06-09T13:18:21Z</dcterms:created>
  <dcterms:modified xsi:type="dcterms:W3CDTF">2020-06-12T16:17:52Z</dcterms:modified>
</cp:coreProperties>
</file>