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FF6600"/>
    <a:srgbClr val="EE3900"/>
    <a:srgbClr val="AAD292"/>
    <a:srgbClr val="7CBF33"/>
    <a:srgbClr val="203864"/>
    <a:srgbClr val="2B5276"/>
    <a:srgbClr val="1B456B"/>
    <a:srgbClr val="27457B"/>
    <a:srgbClr val="00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771F9D-067F-40BF-85DD-6AF5F03D6784}" v="3312" dt="2020-06-09T23:00:33.6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43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692" y="76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microsoft.com/office/2011/relationships/chartColorStyle" Target="colors3.xml"/><Relationship Id="rId1" Type="http://schemas.microsoft.com/office/2011/relationships/chartStyle" Target="style3.xml"/><Relationship Id="rId5" Type="http://schemas.openxmlformats.org/officeDocument/2006/relationships/oleObject" Target="file:///C:\Users\Khaled%20Ismail\Documents\Safety%20Dashboard\Safety%20Dashboard%202.xlsx" TargetMode="External"/><Relationship Id="rId4" Type="http://schemas.openxmlformats.org/officeDocument/2006/relationships/image" Target="../media/image12.png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haled%20Ismail\Documents\Safety%20Dashboard\Safety%20Dashboard%202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KPI!$A$1</c:f>
              <c:strCache>
                <c:ptCount val="1"/>
                <c:pt idx="0">
                  <c:v>Date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7069116360454941"/>
                      <c:h val="0.8926085852171703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FE57-4CC7-9984-3CCC1FA467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rgbClr val="FF6600"/>
                    </a:solidFill>
                    <a:latin typeface="Oswald" panose="02000503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KPI!$B$1</c:f>
              <c:numCache>
                <c:formatCode>[$-409]mmmm\ d\,\ yyyy;@</c:formatCode>
                <c:ptCount val="1"/>
                <c:pt idx="0">
                  <c:v>43994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E57-4CC7-9984-3CCC1FA46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3692256"/>
        <c:axId val="1788484240"/>
      </c:barChart>
      <c:catAx>
        <c:axId val="73692256"/>
        <c:scaling>
          <c:orientation val="minMax"/>
        </c:scaling>
        <c:delete val="1"/>
        <c:axPos val="b"/>
        <c:majorTickMark val="none"/>
        <c:minorTickMark val="none"/>
        <c:tickLblPos val="nextTo"/>
        <c:crossAx val="1788484240"/>
        <c:crosses val="autoZero"/>
        <c:auto val="1"/>
        <c:lblAlgn val="ctr"/>
        <c:lblOffset val="100"/>
        <c:noMultiLvlLbl val="0"/>
      </c:catAx>
      <c:valAx>
        <c:axId val="1788484240"/>
        <c:scaling>
          <c:orientation val="minMax"/>
        </c:scaling>
        <c:delete val="1"/>
        <c:axPos val="l"/>
        <c:numFmt formatCode="[$-409]mmmm\ d\,\ yyyy;@" sourceLinked="1"/>
        <c:majorTickMark val="none"/>
        <c:minorTickMark val="none"/>
        <c:tickLblPos val="nextTo"/>
        <c:crossAx val="736922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 b="1">
          <a:solidFill>
            <a:srgbClr val="FF6600"/>
          </a:solidFill>
          <a:latin typeface="Oswald" panose="02000503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KPI!$A$7</c:f>
              <c:strCache>
                <c:ptCount val="1"/>
                <c:pt idx="0">
                  <c:v>Total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504-41C2-A44D-7477BAAD61E3}"/>
              </c:ext>
            </c:extLst>
          </c:dPt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2365853658536584"/>
                      <c:h val="0.5666666666666666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B504-41C2-A44D-7477BAAD61E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rgbClr val="FF6600"/>
                    </a:solidFill>
                    <a:latin typeface="Oswald" panose="02000503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KPI!$B$7</c:f>
              <c:numCache>
                <c:formatCode>General</c:formatCode>
                <c:ptCount val="1"/>
                <c:pt idx="0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04-41C2-A44D-7477BAAD6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 b="1">
          <a:solidFill>
            <a:srgbClr val="FF6600"/>
          </a:solidFill>
          <a:latin typeface="Oswald" panose="02000503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blipFill>
                <a:blip xmlns:r="http://schemas.openxmlformats.org/officeDocument/2006/relationships" r:embed="rId3"/>
                <a:stretch>
                  <a:fillRect/>
                </a:stretch>
              </a:blip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457-432D-947B-DE7724FE0C24}"/>
              </c:ext>
            </c:extLst>
          </c:dPt>
          <c:dPt>
            <c:idx val="1"/>
            <c:invertIfNegative val="0"/>
            <c:bubble3D val="0"/>
            <c:spPr>
              <a:blipFill>
                <a:blip xmlns:r="http://schemas.openxmlformats.org/officeDocument/2006/relationships" r:embed="rId3"/>
                <a:stretch>
                  <a:fillRect/>
                </a:stretch>
              </a:blip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457-432D-947B-DE7724FE0C24}"/>
              </c:ext>
            </c:extLst>
          </c:dPt>
          <c:dPt>
            <c:idx val="2"/>
            <c:invertIfNegative val="0"/>
            <c:bubble3D val="0"/>
            <c:spPr>
              <a:blipFill>
                <a:blip xmlns:r="http://schemas.openxmlformats.org/officeDocument/2006/relationships" r:embed="rId4"/>
                <a:stretch>
                  <a:fillRect/>
                </a:stretch>
              </a:blip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457-432D-947B-DE7724FE0C2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Oswald" panose="02000503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KPI!$A$4:$A$6</c:f>
              <c:strCache>
                <c:ptCount val="3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</c:strCache>
            </c:strRef>
          </c:cat>
          <c:val>
            <c:numRef>
              <c:f>KPI!$B$4:$B$6</c:f>
              <c:numCache>
                <c:formatCode>General</c:formatCode>
                <c:ptCount val="3"/>
                <c:pt idx="0">
                  <c:v>300</c:v>
                </c:pt>
                <c:pt idx="1">
                  <c:v>400</c:v>
                </c:pt>
                <c:pt idx="2">
                  <c:v>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57-432D-947B-DE7724FE0C24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KPI!$A$4:$A$6</c:f>
              <c:strCache>
                <c:ptCount val="3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</c:strCache>
            </c:strRef>
          </c:cat>
          <c:val>
            <c:numRef>
              <c:f>KPI!$C$4:$C$6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1-C457-432D-947B-DE7724FE0C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"/>
        <c:overlap val="89"/>
        <c:axId val="184455792"/>
        <c:axId val="68043408"/>
      </c:barChart>
      <c:catAx>
        <c:axId val="184455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43408"/>
        <c:crosses val="autoZero"/>
        <c:auto val="1"/>
        <c:lblAlgn val="ctr"/>
        <c:lblOffset val="100"/>
        <c:noMultiLvlLbl val="0"/>
      </c:catAx>
      <c:valAx>
        <c:axId val="6804340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4455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5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KPI!$A$13</c:f>
              <c:strCache>
                <c:ptCount val="1"/>
                <c:pt idx="0">
                  <c:v>Total 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9259259259259258"/>
                      <c:h val="0.398784722222222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31D6-4907-8417-2B57D2EEA3D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1" i="0" u="none" strike="noStrike" kern="1200" baseline="0">
                    <a:solidFill>
                      <a:srgbClr val="FF66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KPI!$B$13</c:f>
              <c:numCache>
                <c:formatCode>General</c:formatCode>
                <c:ptCount val="1"/>
                <c:pt idx="0">
                  <c:v>360000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D6-4907-8417-2B57D2EEA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 b="1">
          <a:solidFill>
            <a:srgbClr val="FF6600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B44-412F-9687-F32DA6ADC6F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B44-412F-9687-F32DA6ADC6F5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B44-412F-9687-F32DA6ADC6F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KPI!$A$10:$A$12</c:f>
              <c:strCache>
                <c:ptCount val="3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</c:strCache>
            </c:strRef>
          </c:cat>
          <c:val>
            <c:numRef>
              <c:f>KPI!$B$10:$B$12</c:f>
              <c:numCache>
                <c:formatCode>General</c:formatCode>
                <c:ptCount val="3"/>
                <c:pt idx="0">
                  <c:v>90000</c:v>
                </c:pt>
                <c:pt idx="1">
                  <c:v>120000</c:v>
                </c:pt>
                <c:pt idx="2">
                  <c:v>150000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05-4FC6-A7F8-0959C7C641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41311456"/>
        <c:axId val="68029264"/>
      </c:barChart>
      <c:catAx>
        <c:axId val="2413114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29264"/>
        <c:crosses val="autoZero"/>
        <c:auto val="1"/>
        <c:lblAlgn val="ctr"/>
        <c:lblOffset val="100"/>
        <c:noMultiLvlLbl val="0"/>
      </c:catAx>
      <c:valAx>
        <c:axId val="6802926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2413114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KPI!$A$40</c:f>
              <c:strCache>
                <c:ptCount val="1"/>
                <c:pt idx="0">
                  <c:v>Total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1" i="0" u="none" strike="noStrike" kern="1200" baseline="0">
                    <a:solidFill>
                      <a:srgbClr val="FF66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KPI!$B$40</c:f>
              <c:numCache>
                <c:formatCode>General</c:formatCode>
                <c:ptCount val="1"/>
                <c:pt idx="0">
                  <c:v>545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D-411A-A862-9FB27398BD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000" b="1">
          <a:solidFill>
            <a:srgbClr val="FF6600"/>
          </a:solidFill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dPt>
            <c:idx val="0"/>
            <c:bubble3D val="0"/>
            <c:spPr>
              <a:gradFill>
                <a:gsLst>
                  <a:gs pos="53000">
                    <a:srgbClr val="7CBF33"/>
                  </a:gs>
                  <a:gs pos="1000">
                    <a:srgbClr val="AAD292"/>
                  </a:gs>
                  <a:gs pos="95000">
                    <a:srgbClr val="00B050"/>
                  </a:gs>
                </a:gsLst>
                <a:lin ang="5400000" scaled="1"/>
              </a:gra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5CE-4364-840A-E0C212A80B1E}"/>
              </c:ext>
            </c:extLst>
          </c:dPt>
          <c:dPt>
            <c:idx val="1"/>
            <c:bubble3D val="0"/>
            <c:spPr>
              <a:noFill/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5CE-4364-840A-E0C212A80B1E}"/>
              </c:ext>
            </c:extLst>
          </c:dPt>
          <c:cat>
            <c:strRef>
              <c:f>KPI!$A$38:$A$39</c:f>
              <c:strCache>
                <c:ptCount val="2"/>
                <c:pt idx="0">
                  <c:v>Postive </c:v>
                </c:pt>
                <c:pt idx="1">
                  <c:v>Negative </c:v>
                </c:pt>
              </c:strCache>
            </c:strRef>
          </c:cat>
          <c:val>
            <c:numRef>
              <c:f>KPI!$B$38:$B$39</c:f>
              <c:numCache>
                <c:formatCode>General</c:formatCode>
                <c:ptCount val="2"/>
                <c:pt idx="0">
                  <c:v>300</c:v>
                </c:pt>
                <c:pt idx="1">
                  <c:v>245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5CE-4364-840A-E0C212A80B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KPI!$A$38</c:f>
              <c:strCache>
                <c:ptCount val="1"/>
                <c:pt idx="0">
                  <c:v>Postive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8F2-4CCF-9775-C4DC5412C2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KPI!$B$38</c:f>
              <c:numCache>
                <c:formatCode>General</c:formatCode>
                <c:ptCount val="1"/>
                <c:pt idx="0">
                  <c:v>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8F2-4CCF-9775-C4DC5412C2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600" b="1"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ln>
              <a:noFill/>
            </a:ln>
          </c:spPr>
          <c:dPt>
            <c:idx val="0"/>
            <c:bubble3D val="0"/>
            <c:spPr>
              <a:noFill/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BF4-46E6-BB22-31A37091C1A9}"/>
              </c:ext>
            </c:extLst>
          </c:dPt>
          <c:dPt>
            <c:idx val="1"/>
            <c:bubble3D val="0"/>
            <c:spPr>
              <a:gradFill>
                <a:gsLst>
                  <a:gs pos="53000">
                    <a:srgbClr val="FF0066"/>
                  </a:gs>
                  <a:gs pos="31000">
                    <a:srgbClr val="FF6600"/>
                  </a:gs>
                  <a:gs pos="95000">
                    <a:srgbClr val="EE3900"/>
                  </a:gs>
                </a:gsLst>
                <a:lin ang="5400000" scaled="1"/>
              </a:gra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BF4-46E6-BB22-31A37091C1A9}"/>
              </c:ext>
            </c:extLst>
          </c:dPt>
          <c:cat>
            <c:strRef>
              <c:f>KPI!$A$38:$A$39</c:f>
              <c:strCache>
                <c:ptCount val="2"/>
                <c:pt idx="0">
                  <c:v>Postive </c:v>
                </c:pt>
                <c:pt idx="1">
                  <c:v>Negative </c:v>
                </c:pt>
              </c:strCache>
            </c:strRef>
          </c:cat>
          <c:val>
            <c:numRef>
              <c:f>KPI!$B$38:$B$39</c:f>
              <c:numCache>
                <c:formatCode>General</c:formatCode>
                <c:ptCount val="2"/>
                <c:pt idx="0">
                  <c:v>300</c:v>
                </c:pt>
                <c:pt idx="1">
                  <c:v>245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F4-46E6-BB22-31A37091C1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1.9607843137254919E-3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KPI!$A$39</c:f>
              <c:strCache>
                <c:ptCount val="1"/>
                <c:pt idx="0">
                  <c:v>Negative 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KPI!$B$39</c:f>
              <c:numCache>
                <c:formatCode>General</c:formatCode>
                <c:ptCount val="1"/>
                <c:pt idx="0">
                  <c:v>245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3D-4D80-9851-E95AA107B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 b="1"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9.9999477126916994E-2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KPI!$A$40</c:f>
              <c:strCache>
                <c:ptCount val="1"/>
                <c:pt idx="0">
                  <c:v>Total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8642669162437"/>
                      <c:h val="0.3640984883739170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7B8D-477A-9578-9B2B1125756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1" i="0" u="none" strike="noStrike" kern="1200" baseline="0">
                    <a:solidFill>
                      <a:srgbClr val="FF66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KPI!$B$40</c:f>
              <c:numCache>
                <c:formatCode>General</c:formatCode>
                <c:ptCount val="1"/>
                <c:pt idx="0">
                  <c:v>545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8D-477A-9578-9B2B11257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 b="1">
          <a:solidFill>
            <a:srgbClr val="FF6600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76D-468A-BA59-97C49BCAA9E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76D-468A-BA59-97C49BCAA9E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76D-468A-BA59-97C49BCAA9E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76D-468A-BA59-97C49BCAA9E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76D-468A-BA59-97C49BCAA9E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76D-468A-BA59-97C49BCAA9E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76D-468A-BA59-97C49BCAA9E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76D-468A-BA59-97C49BCAA9E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76D-468A-BA59-97C49BCAA9E6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76D-468A-BA59-97C49BCAA9E6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5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76D-468A-BA59-97C49BCAA9E6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76D-468A-BA59-97C49BCAA9E6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76D-468A-BA59-97C49BCAA9E6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76D-468A-BA59-97C49BCAA9E6}"/>
              </c:ext>
            </c:extLst>
          </c:dPt>
          <c:dPt>
            <c:idx val="14"/>
            <c:invertIfNegative val="0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76D-468A-BA59-97C49BCAA9E6}"/>
              </c:ext>
            </c:extLst>
          </c:dPt>
          <c:dPt>
            <c:idx val="15"/>
            <c:invertIfNegative val="0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76D-468A-BA59-97C49BCAA9E6}"/>
              </c:ext>
            </c:extLst>
          </c:dPt>
          <c:dPt>
            <c:idx val="16"/>
            <c:invertIfNegative val="0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76D-468A-BA59-97C49BCAA9E6}"/>
              </c:ext>
            </c:extLst>
          </c:dPt>
          <c:dPt>
            <c:idx val="17"/>
            <c:invertIfNegative val="0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76D-468A-BA59-97C49BCAA9E6}"/>
              </c:ext>
            </c:extLst>
          </c:dPt>
          <c:dPt>
            <c:idx val="18"/>
            <c:invertIfNegative val="0"/>
            <c:bubble3D val="0"/>
            <c:spPr>
              <a:solidFill>
                <a:schemeClr val="accent1">
                  <a:lumMod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76D-468A-BA59-97C49BCAA9E6}"/>
              </c:ext>
            </c:extLst>
          </c:dPt>
          <c:dPt>
            <c:idx val="19"/>
            <c:invertIfNegative val="0"/>
            <c:bubble3D val="0"/>
            <c:spPr>
              <a:solidFill>
                <a:schemeClr val="accent2">
                  <a:lumMod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76D-468A-BA59-97C49BCAA9E6}"/>
              </c:ext>
            </c:extLst>
          </c:dPt>
          <c:dPt>
            <c:idx val="20"/>
            <c:invertIfNegative val="0"/>
            <c:bubble3D val="0"/>
            <c:spPr>
              <a:solidFill>
                <a:schemeClr val="accent3">
                  <a:lumMod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76D-468A-BA59-97C49BCAA9E6}"/>
              </c:ext>
            </c:extLst>
          </c:dPt>
          <c:dPt>
            <c:idx val="21"/>
            <c:invertIfNegative val="0"/>
            <c:bubble3D val="0"/>
            <c:spPr>
              <a:solidFill>
                <a:schemeClr val="accent4">
                  <a:lumMod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76D-468A-BA59-97C49BCAA9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KPI!$A$41:$A$62</c:f>
              <c:strCache>
                <c:ptCount val="22"/>
                <c:pt idx="0">
                  <c:v>Work permit </c:v>
                </c:pt>
                <c:pt idx="1">
                  <c:v>Traffic</c:v>
                </c:pt>
                <c:pt idx="2">
                  <c:v>Signage </c:v>
                </c:pt>
                <c:pt idx="3">
                  <c:v>Scaffold</c:v>
                </c:pt>
                <c:pt idx="4">
                  <c:v>Rigging</c:v>
                </c:pt>
                <c:pt idx="5">
                  <c:v>Rebar caps</c:v>
                </c:pt>
                <c:pt idx="6">
                  <c:v>PTW</c:v>
                </c:pt>
                <c:pt idx="7">
                  <c:v>PPE</c:v>
                </c:pt>
                <c:pt idx="8">
                  <c:v>Power Tools</c:v>
                </c:pt>
                <c:pt idx="9">
                  <c:v>Manual handling</c:v>
                </c:pt>
                <c:pt idx="10">
                  <c:v>houskeeping</c:v>
                </c:pt>
                <c:pt idx="11">
                  <c:v>Heavy Equipment</c:v>
                </c:pt>
                <c:pt idx="12">
                  <c:v>Lifting</c:v>
                </c:pt>
                <c:pt idx="13">
                  <c:v>Welding </c:v>
                </c:pt>
                <c:pt idx="14">
                  <c:v>Fire Equipment</c:v>
                </c:pt>
                <c:pt idx="15">
                  <c:v>Health</c:v>
                </c:pt>
                <c:pt idx="16">
                  <c:v>falls</c:v>
                </c:pt>
                <c:pt idx="17">
                  <c:v>excavation</c:v>
                </c:pt>
                <c:pt idx="18">
                  <c:v>Driving</c:v>
                </c:pt>
                <c:pt idx="19">
                  <c:v>Electrical</c:v>
                </c:pt>
                <c:pt idx="20">
                  <c:v>Confiend space</c:v>
                </c:pt>
                <c:pt idx="21">
                  <c:v>CGC</c:v>
                </c:pt>
              </c:strCache>
            </c:strRef>
          </c:cat>
          <c:val>
            <c:numRef>
              <c:f>KPI!$B$41:$B$62</c:f>
              <c:numCache>
                <c:formatCode>General</c:formatCode>
                <c:ptCount val="22"/>
                <c:pt idx="0">
                  <c:v>20</c:v>
                </c:pt>
                <c:pt idx="1">
                  <c:v>2</c:v>
                </c:pt>
                <c:pt idx="2">
                  <c:v>40</c:v>
                </c:pt>
                <c:pt idx="3">
                  <c:v>15</c:v>
                </c:pt>
                <c:pt idx="4">
                  <c:v>25</c:v>
                </c:pt>
                <c:pt idx="5">
                  <c:v>13</c:v>
                </c:pt>
                <c:pt idx="6">
                  <c:v>13</c:v>
                </c:pt>
                <c:pt idx="7">
                  <c:v>90</c:v>
                </c:pt>
                <c:pt idx="8">
                  <c:v>41</c:v>
                </c:pt>
                <c:pt idx="9">
                  <c:v>7</c:v>
                </c:pt>
                <c:pt idx="10">
                  <c:v>40</c:v>
                </c:pt>
                <c:pt idx="11">
                  <c:v>35</c:v>
                </c:pt>
                <c:pt idx="12">
                  <c:v>12</c:v>
                </c:pt>
                <c:pt idx="13">
                  <c:v>2</c:v>
                </c:pt>
                <c:pt idx="14">
                  <c:v>10</c:v>
                </c:pt>
                <c:pt idx="15">
                  <c:v>2</c:v>
                </c:pt>
                <c:pt idx="16">
                  <c:v>4</c:v>
                </c:pt>
                <c:pt idx="17">
                  <c:v>5</c:v>
                </c:pt>
                <c:pt idx="18">
                  <c:v>13</c:v>
                </c:pt>
                <c:pt idx="19">
                  <c:v>11</c:v>
                </c:pt>
                <c:pt idx="20">
                  <c:v>7</c:v>
                </c:pt>
                <c:pt idx="2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E-47DB-A9FF-A7B7DC128F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58905456"/>
        <c:axId val="68031344"/>
      </c:barChart>
      <c:catAx>
        <c:axId val="20589054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31344"/>
        <c:crosses val="autoZero"/>
        <c:auto val="1"/>
        <c:lblAlgn val="ctr"/>
        <c:lblOffset val="100"/>
        <c:noMultiLvlLbl val="0"/>
      </c:catAx>
      <c:valAx>
        <c:axId val="680313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20589054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KPI!$A$85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666-421C-9CDC-306B6500248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2000" b="1" i="0" u="none" strike="noStrike" kern="1200" baseline="0">
                      <a:solidFill>
                        <a:srgbClr val="FF66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348741129581027"/>
                      <c:h val="0.4335944335083114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666-421C-9CDC-306B6500248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1" i="0" u="none" strike="noStrike" kern="1200" baseline="0">
                    <a:solidFill>
                      <a:srgbClr val="FF66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KPI!$B$85</c:f>
              <c:numCache>
                <c:formatCode>General</c:formatCode>
                <c:ptCount val="1"/>
                <c:pt idx="0">
                  <c:v>927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666-421C-9CDC-306B650024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8901056"/>
        <c:axId val="68039248"/>
      </c:barChart>
      <c:catAx>
        <c:axId val="2058901056"/>
        <c:scaling>
          <c:orientation val="minMax"/>
        </c:scaling>
        <c:delete val="1"/>
        <c:axPos val="b"/>
        <c:majorTickMark val="none"/>
        <c:minorTickMark val="none"/>
        <c:tickLblPos val="nextTo"/>
        <c:crossAx val="68039248"/>
        <c:crosses val="autoZero"/>
        <c:auto val="1"/>
        <c:lblAlgn val="ctr"/>
        <c:lblOffset val="100"/>
        <c:noMultiLvlLbl val="0"/>
      </c:catAx>
      <c:valAx>
        <c:axId val="6803924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2058901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 b="1">
          <a:solidFill>
            <a:srgbClr val="FF6600"/>
          </a:solidFill>
        </a:defRPr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C4B-4A42-92B1-FC0E9D86F2D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C4B-4A42-92B1-FC0E9D86F2D5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C4B-4A42-92B1-FC0E9D86F2D5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C4B-4A42-92B1-FC0E9D86F2D5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C4B-4A42-92B1-FC0E9D86F2D5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C4B-4A42-92B1-FC0E9D86F2D5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4B3-4EB1-8E10-843D12738BD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KPI!$A$78:$A$84</c:f>
              <c:strCache>
                <c:ptCount val="7"/>
                <c:pt idx="0">
                  <c:v>Working At height</c:v>
                </c:pt>
                <c:pt idx="1">
                  <c:v>Work Permit</c:v>
                </c:pt>
                <c:pt idx="2">
                  <c:v>Confiend Space</c:v>
                </c:pt>
                <c:pt idx="3">
                  <c:v>Lifting</c:v>
                </c:pt>
                <c:pt idx="4">
                  <c:v>Excavation</c:v>
                </c:pt>
                <c:pt idx="5">
                  <c:v>Welding and Cutting</c:v>
                </c:pt>
                <c:pt idx="6">
                  <c:v>Scaffolding</c:v>
                </c:pt>
              </c:strCache>
            </c:strRef>
          </c:cat>
          <c:val>
            <c:numRef>
              <c:f>KPI!$B$78:$B$84</c:f>
              <c:numCache>
                <c:formatCode>General</c:formatCode>
                <c:ptCount val="7"/>
                <c:pt idx="0">
                  <c:v>140</c:v>
                </c:pt>
                <c:pt idx="1">
                  <c:v>230</c:v>
                </c:pt>
                <c:pt idx="2">
                  <c:v>110</c:v>
                </c:pt>
                <c:pt idx="3">
                  <c:v>88</c:v>
                </c:pt>
                <c:pt idx="4">
                  <c:v>90</c:v>
                </c:pt>
                <c:pt idx="5">
                  <c:v>170</c:v>
                </c:pt>
                <c:pt idx="6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B3-4EB1-8E10-843D12738B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68081904"/>
        <c:axId val="2099978016"/>
      </c:barChart>
      <c:catAx>
        <c:axId val="68081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9978016"/>
        <c:crosses val="autoZero"/>
        <c:auto val="1"/>
        <c:lblAlgn val="ctr"/>
        <c:lblOffset val="100"/>
        <c:noMultiLvlLbl val="0"/>
      </c:catAx>
      <c:valAx>
        <c:axId val="20999780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80819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239468661922876E-2"/>
          <c:y val="6.2656641604010022E-2"/>
          <c:w val="0.88817781204315749"/>
          <c:h val="0.78572513962070534"/>
        </c:manualLayout>
      </c:layout>
      <c:lineChart>
        <c:grouping val="standard"/>
        <c:varyColors val="0"/>
        <c:ser>
          <c:idx val="0"/>
          <c:order val="0"/>
          <c:spPr>
            <a:ln w="28575" cap="sq">
              <a:gradFill>
                <a:gsLst>
                  <a:gs pos="0">
                    <a:srgbClr val="FFC000"/>
                  </a:gs>
                  <a:gs pos="41000">
                    <a:srgbClr val="FF6600"/>
                  </a:gs>
                  <a:gs pos="70000">
                    <a:srgbClr val="FF0000"/>
                  </a:gs>
                  <a:gs pos="100000">
                    <a:srgbClr val="EE3900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KPI!$A$66:$A$69</c:f>
              <c:numCache>
                <c:formatCode>General</c:formatCode>
                <c:ptCount val="4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</c:numCache>
            </c:numRef>
          </c:cat>
          <c:val>
            <c:numRef>
              <c:f>KPI!$B$66:$B$69</c:f>
              <c:numCache>
                <c:formatCode>General</c:formatCode>
                <c:ptCount val="4"/>
                <c:pt idx="0">
                  <c:v>0.2</c:v>
                </c:pt>
                <c:pt idx="1">
                  <c:v>0.1</c:v>
                </c:pt>
                <c:pt idx="2">
                  <c:v>0.3</c:v>
                </c:pt>
                <c:pt idx="3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6A-40D1-93B6-242C92EFA9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8080304"/>
        <c:axId val="68056304"/>
      </c:lineChart>
      <c:catAx>
        <c:axId val="68080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56304"/>
        <c:crosses val="autoZero"/>
        <c:auto val="1"/>
        <c:lblAlgn val="ctr"/>
        <c:lblOffset val="100"/>
        <c:noMultiLvlLbl val="0"/>
      </c:catAx>
      <c:valAx>
        <c:axId val="680563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803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sq">
              <a:solidFill>
                <a:srgbClr val="FF006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2">
                  <a:lumMod val="20000"/>
                  <a:lumOff val="80000"/>
                </a:schemeClr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KPI!$A$72:$A$75</c:f>
              <c:numCache>
                <c:formatCode>General</c:formatCode>
                <c:ptCount val="4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</c:numCache>
            </c:numRef>
          </c:cat>
          <c:val>
            <c:numRef>
              <c:f>KPI!$B$72:$B$75</c:f>
              <c:numCache>
                <c:formatCode>General</c:formatCode>
                <c:ptCount val="4"/>
                <c:pt idx="0">
                  <c:v>4</c:v>
                </c:pt>
                <c:pt idx="1">
                  <c:v>2.5</c:v>
                </c:pt>
                <c:pt idx="2">
                  <c:v>3.5</c:v>
                </c:pt>
                <c:pt idx="3">
                  <c:v>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41D-4CF7-86E8-ADF640E873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50361216"/>
        <c:axId val="68052976"/>
      </c:lineChart>
      <c:catAx>
        <c:axId val="250361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052976"/>
        <c:crosses val="autoZero"/>
        <c:auto val="1"/>
        <c:lblAlgn val="ctr"/>
        <c:lblOffset val="100"/>
        <c:noMultiLvlLbl val="0"/>
      </c:catAx>
      <c:valAx>
        <c:axId val="6805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50361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1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AE43-EB21-4020-8551-A070B0560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682EE-3CCF-4827-B9C9-5C52F44ADF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97CD8-18CD-4B28-B6F3-FF0FB8BC9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0586F-46F5-4E47-91C6-ABD5550CB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BF87B-C9BC-42B0-83F1-EA8041438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33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A8CEA-7812-4EF9-890B-ACA3E9A1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EA3DA-0576-45EC-B127-3B9F34FED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D1156-7620-4F0E-95A0-98FB82DA6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8E513-056B-4067-BA0A-E0D7776F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8291D-114F-4116-BEF0-8B322FF4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80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ECF9E-248D-489A-9E2C-2B5EB0F76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E2007-58CB-4C6B-86A0-BF7012D00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5655A-38B6-431E-907D-A78BE673E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91E89-3D0C-4F3C-B3E4-B6B220535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5AD1D-479B-4D4D-83BC-B525C048F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347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8453B-B85F-4F17-BDC9-3A55472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7D433-2581-471C-A1D7-A632A0FE1C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4C829B-D77C-4D1C-AD04-145EE0C942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86148-CC1C-48DE-AFC9-F1EC59236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D251A-81CD-425B-A08C-1947EE056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F63A20-A92D-43B7-9E67-2BC90A7AC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99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1ADAE-9EB4-4BE8-96C6-E6357AB29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4BE8EF-19E0-477B-BCB7-529D346FA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363AFF-0C3D-49B1-8614-40EB11ACE4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6837E4-9A0A-4E7F-B5C6-7451385250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7EC743-7BE3-442B-BAEE-BE032C1745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A75F24-4460-4922-94FA-3FC5BFC44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084633-7596-41AE-BFAC-E362EB30E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2A11A6-6A51-480A-904A-8657BE07E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18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64D9A-721A-4B6C-8A5F-4714EDAD8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3E6FDE-D0BA-4152-92C8-E5DAB0D78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42A4F2-2A01-43CB-B3E7-3B8BEDDED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BA69B-DAB9-4F57-96E0-5E81B1CDD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2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996CDF-43C5-4E95-920E-043CC791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C48D1F-F7E8-4C6E-A933-D34E1E194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A11D9-F8DF-481E-9AC6-AE99D96D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536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9C9F6-0876-43DD-8E42-122E434C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3A72E-FB82-458B-9683-1AA17DB51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510DE6-3944-4781-B5E3-0EDC8C526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2147C-18EE-452D-8D1A-443305522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9B439-90AA-4EED-BAE5-19A62260B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ABB9C-2A49-422D-99FC-B6C5D1C4F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434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074D4-ADF6-45CF-9A7C-8AAD89768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71DFB9-CC65-4CBC-B4C7-A8F4E88585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86769-2EC1-48F9-9316-7B4624AF4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682C8-4056-46F0-987C-F40AB89A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BAC94B-E656-44A2-BF0A-F98B4164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1F814-4558-460F-B1B1-47910BAF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192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5CB7-52A5-4F25-8E36-47E8ED791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2C7E97-31B7-450D-BF35-DB034EC055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026BC-AFD3-4F11-938E-6CE94E3C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ED118-20E5-4C04-91F8-BF66B576C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51A0F-5E4A-47A2-8A20-E932DB3B6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14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1E1062-AF09-4D0E-B9FB-CB6956D92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98059C-2006-45F1-A62D-A807AABBB9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753FE-0096-4C25-8F2C-739A132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0A617-2828-4B0B-9B35-0B5207E7A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343A6-E159-4443-9A4B-1F7B7DDDE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450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7C68EB-96CB-4819-A8AD-1650D98C4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6D560-CFEA-4366-888D-EC9888A0E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C70E1-1D8D-40D0-BF8A-88063F1CF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5D10B-EFF2-4F6E-BD65-6812DE4AF82A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6E184-45F1-4DB7-9135-1F31530FA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EFBAA-B812-4FAE-98D2-96D786F1F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1F92F6-F9AE-4D9E-9E51-497127ED5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95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chart" Target="../charts/chart2.xml"/><Relationship Id="rId18" Type="http://schemas.openxmlformats.org/officeDocument/2006/relationships/chart" Target="../charts/chart7.xml"/><Relationship Id="rId26" Type="http://schemas.openxmlformats.org/officeDocument/2006/relationships/chart" Target="../charts/chart15.xml"/><Relationship Id="rId3" Type="http://schemas.openxmlformats.org/officeDocument/2006/relationships/image" Target="../media/image2.svg"/><Relationship Id="rId21" Type="http://schemas.openxmlformats.org/officeDocument/2006/relationships/chart" Target="../charts/chart10.xml"/><Relationship Id="rId7" Type="http://schemas.openxmlformats.org/officeDocument/2006/relationships/image" Target="../media/image6.svg"/><Relationship Id="rId12" Type="http://schemas.openxmlformats.org/officeDocument/2006/relationships/chart" Target="../charts/chart1.xml"/><Relationship Id="rId17" Type="http://schemas.openxmlformats.org/officeDocument/2006/relationships/chart" Target="../charts/chart6.xml"/><Relationship Id="rId25" Type="http://schemas.openxmlformats.org/officeDocument/2006/relationships/chart" Target="../charts/chart14.xml"/><Relationship Id="rId2" Type="http://schemas.openxmlformats.org/officeDocument/2006/relationships/image" Target="../media/image1.svg"/><Relationship Id="rId16" Type="http://schemas.openxmlformats.org/officeDocument/2006/relationships/chart" Target="../charts/chart5.xml"/><Relationship Id="rId20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24" Type="http://schemas.openxmlformats.org/officeDocument/2006/relationships/chart" Target="../charts/chart13.xml"/><Relationship Id="rId5" Type="http://schemas.openxmlformats.org/officeDocument/2006/relationships/image" Target="../media/image4.svg"/><Relationship Id="rId15" Type="http://schemas.openxmlformats.org/officeDocument/2006/relationships/chart" Target="../charts/chart4.xml"/><Relationship Id="rId23" Type="http://schemas.openxmlformats.org/officeDocument/2006/relationships/chart" Target="../charts/chart12.xml"/><Relationship Id="rId10" Type="http://schemas.openxmlformats.org/officeDocument/2006/relationships/image" Target="../media/image9.svg"/><Relationship Id="rId19" Type="http://schemas.openxmlformats.org/officeDocument/2006/relationships/chart" Target="../charts/chart8.xml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chart" Target="../charts/chart3.xml"/><Relationship Id="rId22" Type="http://schemas.openxmlformats.org/officeDocument/2006/relationships/chart" Target="../charts/chart11.xml"/><Relationship Id="rId27" Type="http://schemas.openxmlformats.org/officeDocument/2006/relationships/chart" Target="../charts/char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3000">
              <a:srgbClr val="FF0066"/>
            </a:gs>
            <a:gs pos="31000">
              <a:srgbClr val="FF6600"/>
            </a:gs>
            <a:gs pos="95000">
              <a:srgbClr val="EE39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AD1C8BDB-9310-40D3-9F83-846BB59D009C}"/>
              </a:ext>
            </a:extLst>
          </p:cNvPr>
          <p:cNvGrpSpPr/>
          <p:nvPr/>
        </p:nvGrpSpPr>
        <p:grpSpPr>
          <a:xfrm>
            <a:off x="52081" y="865452"/>
            <a:ext cx="8412480" cy="5943600"/>
            <a:chOff x="52081" y="865452"/>
            <a:chExt cx="8412480" cy="594360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A90A888-4258-446C-A880-9E1B75CF67E4}"/>
                </a:ext>
              </a:extLst>
            </p:cNvPr>
            <p:cNvSpPr/>
            <p:nvPr/>
          </p:nvSpPr>
          <p:spPr>
            <a:xfrm>
              <a:off x="52081" y="865452"/>
              <a:ext cx="8412480" cy="5943600"/>
            </a:xfrm>
            <a:prstGeom prst="roundRect">
              <a:avLst>
                <a:gd name="adj" fmla="val 4204"/>
              </a:avLst>
            </a:prstGeom>
            <a:solidFill>
              <a:schemeClr val="tx1"/>
            </a:solidFill>
            <a:ln>
              <a:noFill/>
            </a:ln>
            <a:effectLst>
              <a:outerShdw blurRad="50800" dist="635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7BDF4AE-9374-4FBF-8740-67599116ECED}"/>
                </a:ext>
              </a:extLst>
            </p:cNvPr>
            <p:cNvGrpSpPr/>
            <p:nvPr/>
          </p:nvGrpSpPr>
          <p:grpSpPr>
            <a:xfrm>
              <a:off x="172720" y="1018560"/>
              <a:ext cx="4023360" cy="2011680"/>
              <a:chOff x="172720" y="1018560"/>
              <a:chExt cx="4287520" cy="2283440"/>
            </a:xfrm>
          </p:grpSpPr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F6A8C11D-ADC5-4FA5-918D-8372E98AF253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334E6E44-4A5F-4795-8F08-64BC03BECC65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789920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085D2DF-9FBA-4FEC-A427-825B200C33A0}"/>
                </a:ext>
              </a:extLst>
            </p:cNvPr>
            <p:cNvGrpSpPr/>
            <p:nvPr/>
          </p:nvGrpSpPr>
          <p:grpSpPr>
            <a:xfrm>
              <a:off x="4297680" y="1018560"/>
              <a:ext cx="4023360" cy="2011680"/>
              <a:chOff x="172720" y="1018560"/>
              <a:chExt cx="4287520" cy="2283440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6D2AFB0C-1190-48BF-A253-003034F5D41F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AAFCB58B-F201-42D6-9D24-6428C6A84069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789920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4698789-10DE-4549-A232-6BEC941FEEE5}"/>
                </a:ext>
              </a:extLst>
            </p:cNvPr>
            <p:cNvGrpSpPr/>
            <p:nvPr/>
          </p:nvGrpSpPr>
          <p:grpSpPr>
            <a:xfrm>
              <a:off x="188601" y="3158670"/>
              <a:ext cx="8078482" cy="1392299"/>
              <a:chOff x="172720" y="1018558"/>
              <a:chExt cx="4287520" cy="2283442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2985EC1A-C3E6-476A-8670-064E235DC2EA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FA5066C-883B-4C7F-9F7F-B6E8E0AA10CA}"/>
                  </a:ext>
                </a:extLst>
              </p:cNvPr>
              <p:cNvSpPr/>
              <p:nvPr/>
            </p:nvSpPr>
            <p:spPr>
              <a:xfrm>
                <a:off x="172720" y="1018558"/>
                <a:ext cx="4287520" cy="818440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163A6B9-01FF-4F6A-8DF0-3368F9551330}"/>
                </a:ext>
              </a:extLst>
            </p:cNvPr>
            <p:cNvGrpSpPr/>
            <p:nvPr/>
          </p:nvGrpSpPr>
          <p:grpSpPr>
            <a:xfrm>
              <a:off x="102882" y="4726441"/>
              <a:ext cx="4023360" cy="2011680"/>
              <a:chOff x="172720" y="1018560"/>
              <a:chExt cx="4287520" cy="2283440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E7010515-7575-4031-94BB-872909B43D1A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DCBE902-1256-41A8-B121-E2915E0C658F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789920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3381621-663E-4762-8359-CDDB8F6CC155}"/>
                </a:ext>
              </a:extLst>
            </p:cNvPr>
            <p:cNvGrpSpPr/>
            <p:nvPr/>
          </p:nvGrpSpPr>
          <p:grpSpPr>
            <a:xfrm>
              <a:off x="4227842" y="4726441"/>
              <a:ext cx="4023360" cy="2011680"/>
              <a:chOff x="172720" y="1018560"/>
              <a:chExt cx="4287520" cy="2283440"/>
            </a:xfrm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0FBABA43-495A-468C-8A78-F76310829E3F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941644EA-C923-4D94-9488-924A51ED32F6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789920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574C945-97DF-4626-87B6-959864A493A4}"/>
              </a:ext>
            </a:extLst>
          </p:cNvPr>
          <p:cNvGrpSpPr/>
          <p:nvPr/>
        </p:nvGrpSpPr>
        <p:grpSpPr>
          <a:xfrm>
            <a:off x="8534398" y="847460"/>
            <a:ext cx="3605520" cy="5981912"/>
            <a:chOff x="8534398" y="847460"/>
            <a:chExt cx="3605520" cy="598191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F8F11AF-5869-43CF-B416-ABD30E77C13D}"/>
                </a:ext>
              </a:extLst>
            </p:cNvPr>
            <p:cNvSpPr/>
            <p:nvPr/>
          </p:nvSpPr>
          <p:spPr>
            <a:xfrm>
              <a:off x="8534399" y="847460"/>
              <a:ext cx="3605519" cy="2974552"/>
            </a:xfrm>
            <a:prstGeom prst="roundRect">
              <a:avLst>
                <a:gd name="adj" fmla="val 4546"/>
              </a:avLst>
            </a:prstGeom>
            <a:solidFill>
              <a:schemeClr val="tx1"/>
            </a:solidFill>
            <a:ln>
              <a:noFill/>
            </a:ln>
            <a:effectLst>
              <a:outerShdw blurRad="50800" dist="635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161FDBA-DA04-4F8A-9228-08C3C6B9A997}"/>
                </a:ext>
              </a:extLst>
            </p:cNvPr>
            <p:cNvSpPr/>
            <p:nvPr/>
          </p:nvSpPr>
          <p:spPr>
            <a:xfrm>
              <a:off x="8534398" y="3854820"/>
              <a:ext cx="3605519" cy="2974552"/>
            </a:xfrm>
            <a:prstGeom prst="roundRect">
              <a:avLst>
                <a:gd name="adj" fmla="val 4546"/>
              </a:avLst>
            </a:prstGeom>
            <a:solidFill>
              <a:schemeClr val="tx1"/>
            </a:solidFill>
            <a:ln>
              <a:noFill/>
            </a:ln>
            <a:effectLst>
              <a:outerShdw blurRad="50800" dist="635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F004311-43A4-401A-B6F4-69DF48748D9A}"/>
                </a:ext>
              </a:extLst>
            </p:cNvPr>
            <p:cNvGrpSpPr/>
            <p:nvPr/>
          </p:nvGrpSpPr>
          <p:grpSpPr>
            <a:xfrm>
              <a:off x="8645517" y="4003318"/>
              <a:ext cx="3383280" cy="2651760"/>
              <a:chOff x="172720" y="1018560"/>
              <a:chExt cx="4287520" cy="2283440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75BD671B-4F0E-47DC-BE3E-7E069E902DF6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7E0259FA-4528-4201-A04D-FE28B40708A9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622684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CF34377-9654-4043-A1C8-7C8E1334D328}"/>
                </a:ext>
              </a:extLst>
            </p:cNvPr>
            <p:cNvGrpSpPr/>
            <p:nvPr/>
          </p:nvGrpSpPr>
          <p:grpSpPr>
            <a:xfrm>
              <a:off x="8645517" y="951458"/>
              <a:ext cx="3383280" cy="2651760"/>
              <a:chOff x="172720" y="1018560"/>
              <a:chExt cx="4287520" cy="2283440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BED6349-85A4-4D86-ABFB-6527D2DAF49A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2283440"/>
              </a:xfrm>
              <a:prstGeom prst="roundRect">
                <a:avLst>
                  <a:gd name="adj" fmla="val 6654"/>
                </a:avLst>
              </a:prstGeom>
              <a:solidFill>
                <a:srgbClr val="2B527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95291F3A-CA36-4DF5-A6FD-964ACA325BE8}"/>
                  </a:ext>
                </a:extLst>
              </p:cNvPr>
              <p:cNvSpPr/>
              <p:nvPr/>
            </p:nvSpPr>
            <p:spPr>
              <a:xfrm>
                <a:off x="172720" y="1018560"/>
                <a:ext cx="4287520" cy="536762"/>
              </a:xfrm>
              <a:prstGeom prst="roundRect">
                <a:avLst>
                  <a:gd name="adj" fmla="val 13085"/>
                </a:avLst>
              </a:prstGeom>
              <a:solidFill>
                <a:srgbClr val="20386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51F1D0B-F678-497D-AE96-5A474489726E}"/>
              </a:ext>
            </a:extLst>
          </p:cNvPr>
          <p:cNvGrpSpPr/>
          <p:nvPr/>
        </p:nvGrpSpPr>
        <p:grpSpPr>
          <a:xfrm>
            <a:off x="52083" y="61902"/>
            <a:ext cx="3483598" cy="723656"/>
            <a:chOff x="52083" y="61902"/>
            <a:chExt cx="3483598" cy="7236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2992153-B57D-4360-80E5-1037539AF55C}"/>
                </a:ext>
              </a:extLst>
            </p:cNvPr>
            <p:cNvSpPr/>
            <p:nvPr/>
          </p:nvSpPr>
          <p:spPr>
            <a:xfrm>
              <a:off x="52083" y="61902"/>
              <a:ext cx="3483598" cy="723656"/>
            </a:xfrm>
            <a:prstGeom prst="roundRect">
              <a:avLst>
                <a:gd name="adj" fmla="val 15778"/>
              </a:avLst>
            </a:prstGeom>
            <a:solidFill>
              <a:schemeClr val="tx1"/>
            </a:solidFill>
            <a:ln>
              <a:noFill/>
            </a:ln>
            <a:effectLst>
              <a:outerShdw blurRad="50800" dist="635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B20CF51-E75E-4A4E-ADD6-752E388CC7A4}"/>
                </a:ext>
              </a:extLst>
            </p:cNvPr>
            <p:cNvSpPr/>
            <p:nvPr/>
          </p:nvSpPr>
          <p:spPr>
            <a:xfrm>
              <a:off x="153042" y="126315"/>
              <a:ext cx="3281680" cy="527420"/>
            </a:xfrm>
            <a:prstGeom prst="roundRect">
              <a:avLst/>
            </a:prstGeom>
            <a:solidFill>
              <a:srgbClr val="20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69996CC9-3C71-4E1F-B2C3-92453F0203B6}"/>
              </a:ext>
            </a:extLst>
          </p:cNvPr>
          <p:cNvSpPr txBox="1"/>
          <p:nvPr/>
        </p:nvSpPr>
        <p:spPr>
          <a:xfrm>
            <a:off x="792480" y="184773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Date :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11F750-5C2B-41B2-B927-1BC0FFA04118}"/>
              </a:ext>
            </a:extLst>
          </p:cNvPr>
          <p:cNvSpPr txBox="1"/>
          <p:nvPr/>
        </p:nvSpPr>
        <p:spPr>
          <a:xfrm>
            <a:off x="792480" y="1107425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Total Manpower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0F5AD8-A0DA-435B-B1CF-266CB804750C}"/>
              </a:ext>
            </a:extLst>
          </p:cNvPr>
          <p:cNvSpPr txBox="1"/>
          <p:nvPr/>
        </p:nvSpPr>
        <p:spPr>
          <a:xfrm>
            <a:off x="4881877" y="1107425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Total Manhours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0A2A35-CB48-4D40-A608-C48DCDBDEDF0}"/>
              </a:ext>
            </a:extLst>
          </p:cNvPr>
          <p:cNvSpPr txBox="1"/>
          <p:nvPr/>
        </p:nvSpPr>
        <p:spPr>
          <a:xfrm>
            <a:off x="753282" y="4889337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Safety Observations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AB90FF-E090-4602-BB27-EB7E775EDAFE}"/>
              </a:ext>
            </a:extLst>
          </p:cNvPr>
          <p:cNvSpPr txBox="1"/>
          <p:nvPr/>
        </p:nvSpPr>
        <p:spPr>
          <a:xfrm>
            <a:off x="4949041" y="4860375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Training Hours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6BE63A-826D-46C6-9B85-6CD7EEA1CB62}"/>
              </a:ext>
            </a:extLst>
          </p:cNvPr>
          <p:cNvSpPr txBox="1"/>
          <p:nvPr/>
        </p:nvSpPr>
        <p:spPr>
          <a:xfrm>
            <a:off x="773539" y="3183348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Unsafe Acts/Conditions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5EAB91-1901-437B-BD00-B77711CD764A}"/>
              </a:ext>
            </a:extLst>
          </p:cNvPr>
          <p:cNvSpPr txBox="1"/>
          <p:nvPr/>
        </p:nvSpPr>
        <p:spPr>
          <a:xfrm>
            <a:off x="9159765" y="948789"/>
            <a:ext cx="2753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Lost Time Injuries Frequency (LTIF)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8C9E72-6A1C-4DC5-8A2B-7BB605E35371}"/>
              </a:ext>
            </a:extLst>
          </p:cNvPr>
          <p:cNvSpPr txBox="1"/>
          <p:nvPr/>
        </p:nvSpPr>
        <p:spPr>
          <a:xfrm>
            <a:off x="9425944" y="4129186"/>
            <a:ext cx="2369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Severity (S)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F83B1E-43B3-473C-A1AF-652E3435E8E9}"/>
              </a:ext>
            </a:extLst>
          </p:cNvPr>
          <p:cNvSpPr txBox="1"/>
          <p:nvPr/>
        </p:nvSpPr>
        <p:spPr>
          <a:xfrm>
            <a:off x="792480" y="3730085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Positive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28CE72-FF50-4A1A-95AF-77FC739F50EC}"/>
              </a:ext>
            </a:extLst>
          </p:cNvPr>
          <p:cNvSpPr txBox="1"/>
          <p:nvPr/>
        </p:nvSpPr>
        <p:spPr>
          <a:xfrm>
            <a:off x="4988239" y="3789949"/>
            <a:ext cx="264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Oswald" panose="02000503000000000000" pitchFamily="2" charset="0"/>
              </a:rPr>
              <a:t>Negative</a:t>
            </a:r>
          </a:p>
        </p:txBody>
      </p:sp>
      <p:pic>
        <p:nvPicPr>
          <p:cNvPr id="47" name="Graphic 46" descr="Daily calendar">
            <a:extLst>
              <a:ext uri="{FF2B5EF4-FFF2-40B4-BE49-F238E27FC236}">
                <a16:creationId xmlns:a16="http://schemas.microsoft.com/office/drawing/2014/main" id="{F50C1F45-84FB-4124-8DF6-836BC9A9B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5111" y="83433"/>
            <a:ext cx="495300" cy="49530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8" name="Graphic 47" descr="Group of men">
            <a:extLst>
              <a:ext uri="{FF2B5EF4-FFF2-40B4-BE49-F238E27FC236}">
                <a16:creationId xmlns:a16="http://schemas.microsoft.com/office/drawing/2014/main" id="{B028E85E-EEBE-4C1A-ADC5-360D78B9FA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64245" y="1051045"/>
            <a:ext cx="457201" cy="4572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9" name="Graphic 48" descr="Clock">
            <a:extLst>
              <a:ext uri="{FF2B5EF4-FFF2-40B4-BE49-F238E27FC236}">
                <a16:creationId xmlns:a16="http://schemas.microsoft.com/office/drawing/2014/main" id="{28BE6427-E3B8-4945-8C00-5B26B72AC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875" y="1019477"/>
            <a:ext cx="513605" cy="51360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0" name="Graphic 49" descr="Construction worker">
            <a:extLst>
              <a:ext uri="{FF2B5EF4-FFF2-40B4-BE49-F238E27FC236}">
                <a16:creationId xmlns:a16="http://schemas.microsoft.com/office/drawing/2014/main" id="{F664DE05-2163-4CF9-87FB-E992E8A21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032" y="3051257"/>
            <a:ext cx="539448" cy="53944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1" name="Graphic 50" descr="Badge Unfollow">
            <a:extLst>
              <a:ext uri="{FF2B5EF4-FFF2-40B4-BE49-F238E27FC236}">
                <a16:creationId xmlns:a16="http://schemas.microsoft.com/office/drawing/2014/main" id="{17D0F937-8B56-44DF-A89A-9AF5063042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45217" y="3668193"/>
            <a:ext cx="491088" cy="49108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2" name="Graphic 51" descr="Badge Follow">
            <a:extLst>
              <a:ext uri="{FF2B5EF4-FFF2-40B4-BE49-F238E27FC236}">
                <a16:creationId xmlns:a16="http://schemas.microsoft.com/office/drawing/2014/main" id="{7F3A1D25-AA8A-4BA0-ACAB-380273A052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1899" y="3645723"/>
            <a:ext cx="444948" cy="44494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3" name="Graphic 52" descr="Crash">
            <a:extLst>
              <a:ext uri="{FF2B5EF4-FFF2-40B4-BE49-F238E27FC236}">
                <a16:creationId xmlns:a16="http://schemas.microsoft.com/office/drawing/2014/main" id="{B995DEF3-F64D-4172-BBD9-0F30C91114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5541" y="4003318"/>
            <a:ext cx="460379" cy="46037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4" name="Graphic 53" descr="Sling">
            <a:extLst>
              <a:ext uri="{FF2B5EF4-FFF2-40B4-BE49-F238E27FC236}">
                <a16:creationId xmlns:a16="http://schemas.microsoft.com/office/drawing/2014/main" id="{9C1E6C00-2C00-4EBD-A31F-9DCADCC525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39305" y="975927"/>
            <a:ext cx="410185" cy="41018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5" name="Graphic 54" descr="Clipboard">
            <a:extLst>
              <a:ext uri="{FF2B5EF4-FFF2-40B4-BE49-F238E27FC236}">
                <a16:creationId xmlns:a16="http://schemas.microsoft.com/office/drawing/2014/main" id="{8A2DED4E-1CC0-46F7-A6E6-A5E85D8116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4843" y="4815718"/>
            <a:ext cx="458646" cy="45864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6" name="Graphic 55" descr="Teacher">
            <a:extLst>
              <a:ext uri="{FF2B5EF4-FFF2-40B4-BE49-F238E27FC236}">
                <a16:creationId xmlns:a16="http://schemas.microsoft.com/office/drawing/2014/main" id="{D21DE685-9800-43BC-AF51-D8B9C9CA95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53650" y="4775125"/>
            <a:ext cx="539832" cy="539832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2207B2C-B617-478F-A7F7-9639CF961491}"/>
              </a:ext>
            </a:extLst>
          </p:cNvPr>
          <p:cNvSpPr txBox="1"/>
          <p:nvPr/>
        </p:nvSpPr>
        <p:spPr>
          <a:xfrm>
            <a:off x="4917847" y="13608"/>
            <a:ext cx="5694683" cy="707886"/>
          </a:xfrm>
          <a:prstGeom prst="rect">
            <a:avLst/>
          </a:prstGeo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Oswald" panose="02000503000000000000" pitchFamily="2" charset="0"/>
              </a:rPr>
              <a:t>EHS Monthly Dashboard </a:t>
            </a:r>
          </a:p>
        </p:txBody>
      </p:sp>
      <p:graphicFrame>
        <p:nvGraphicFramePr>
          <p:cNvPr id="60" name="Chart 59">
            <a:extLst>
              <a:ext uri="{FF2B5EF4-FFF2-40B4-BE49-F238E27FC236}">
                <a16:creationId xmlns:a16="http://schemas.microsoft.com/office/drawing/2014/main" id="{CA9BAFAE-E324-4FA3-9118-28C5F581D7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5047138"/>
              </p:ext>
            </p:extLst>
          </p:nvPr>
        </p:nvGraphicFramePr>
        <p:xfrm>
          <a:off x="1034272" y="164634"/>
          <a:ext cx="2361251" cy="472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61" name="Chart 60">
            <a:extLst>
              <a:ext uri="{FF2B5EF4-FFF2-40B4-BE49-F238E27FC236}">
                <a16:creationId xmlns:a16="http://schemas.microsoft.com/office/drawing/2014/main" id="{7615D17F-1A2B-4217-8844-4BD5BD6C8D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1964176"/>
              </p:ext>
            </p:extLst>
          </p:nvPr>
        </p:nvGraphicFramePr>
        <p:xfrm>
          <a:off x="2015958" y="1183493"/>
          <a:ext cx="1562100" cy="38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63" name="Chart 62">
            <a:extLst>
              <a:ext uri="{FF2B5EF4-FFF2-40B4-BE49-F238E27FC236}">
                <a16:creationId xmlns:a16="http://schemas.microsoft.com/office/drawing/2014/main" id="{DEF6C211-077D-49C6-B2FA-BF7EE225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7472449"/>
              </p:ext>
            </p:extLst>
          </p:nvPr>
        </p:nvGraphicFramePr>
        <p:xfrm>
          <a:off x="329609" y="1605515"/>
          <a:ext cx="3700132" cy="1403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64" name="Chart 63">
            <a:extLst>
              <a:ext uri="{FF2B5EF4-FFF2-40B4-BE49-F238E27FC236}">
                <a16:creationId xmlns:a16="http://schemas.microsoft.com/office/drawing/2014/main" id="{7D7C0393-9F83-492C-BBBF-1AC4994A7D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127228"/>
              </p:ext>
            </p:extLst>
          </p:nvPr>
        </p:nvGraphicFramePr>
        <p:xfrm>
          <a:off x="5990200" y="1155132"/>
          <a:ext cx="2057400" cy="731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65" name="Chart 64">
            <a:extLst>
              <a:ext uri="{FF2B5EF4-FFF2-40B4-BE49-F238E27FC236}">
                <a16:creationId xmlns:a16="http://schemas.microsoft.com/office/drawing/2014/main" id="{B7AC506A-85D7-4714-B7FC-B86D2C4477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668158"/>
              </p:ext>
            </p:extLst>
          </p:nvPr>
        </p:nvGraphicFramePr>
        <p:xfrm>
          <a:off x="4352969" y="1693032"/>
          <a:ext cx="4023360" cy="13161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66" name="Chart 65">
            <a:extLst>
              <a:ext uri="{FF2B5EF4-FFF2-40B4-BE49-F238E27FC236}">
                <a16:creationId xmlns:a16="http://schemas.microsoft.com/office/drawing/2014/main" id="{0C6CDB85-D713-455C-A660-7BB8CB081B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9465394"/>
              </p:ext>
            </p:extLst>
          </p:nvPr>
        </p:nvGraphicFramePr>
        <p:xfrm>
          <a:off x="2347170" y="3180070"/>
          <a:ext cx="2506175" cy="3596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67" name="Chart 66">
            <a:extLst>
              <a:ext uri="{FF2B5EF4-FFF2-40B4-BE49-F238E27FC236}">
                <a16:creationId xmlns:a16="http://schemas.microsoft.com/office/drawing/2014/main" id="{BEC1444C-7037-4687-AD7A-594FE8E8BC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35216301"/>
              </p:ext>
            </p:extLst>
          </p:nvPr>
        </p:nvGraphicFramePr>
        <p:xfrm>
          <a:off x="1500612" y="3539723"/>
          <a:ext cx="1997474" cy="11252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68" name="Chart 67">
            <a:extLst>
              <a:ext uri="{FF2B5EF4-FFF2-40B4-BE49-F238E27FC236}">
                <a16:creationId xmlns:a16="http://schemas.microsoft.com/office/drawing/2014/main" id="{2861DF5A-0D88-42C0-A9CA-9640A212A2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1092422"/>
              </p:ext>
            </p:extLst>
          </p:nvPr>
        </p:nvGraphicFramePr>
        <p:xfrm>
          <a:off x="1464979" y="3943941"/>
          <a:ext cx="1981200" cy="3886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9" name="Chart 68">
            <a:extLst>
              <a:ext uri="{FF2B5EF4-FFF2-40B4-BE49-F238E27FC236}">
                <a16:creationId xmlns:a16="http://schemas.microsoft.com/office/drawing/2014/main" id="{55221A6E-F863-4A70-8964-8273F9B1C8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440779"/>
              </p:ext>
            </p:extLst>
          </p:nvPr>
        </p:nvGraphicFramePr>
        <p:xfrm>
          <a:off x="5611156" y="3550737"/>
          <a:ext cx="1782496" cy="10694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0" name="Chart 69">
            <a:extLst>
              <a:ext uri="{FF2B5EF4-FFF2-40B4-BE49-F238E27FC236}">
                <a16:creationId xmlns:a16="http://schemas.microsoft.com/office/drawing/2014/main" id="{5708D8C2-D790-43BC-AF3A-367F77EFDB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6754631"/>
              </p:ext>
            </p:extLst>
          </p:nvPr>
        </p:nvGraphicFramePr>
        <p:xfrm>
          <a:off x="5424493" y="3921097"/>
          <a:ext cx="2286000" cy="3886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71" name="Chart 70">
            <a:extLst>
              <a:ext uri="{FF2B5EF4-FFF2-40B4-BE49-F238E27FC236}">
                <a16:creationId xmlns:a16="http://schemas.microsoft.com/office/drawing/2014/main" id="{0C6CDB85-D713-455C-A660-7BB8CB081B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52273931"/>
              </p:ext>
            </p:extLst>
          </p:nvPr>
        </p:nvGraphicFramePr>
        <p:xfrm>
          <a:off x="2068360" y="4980740"/>
          <a:ext cx="2113442" cy="446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72" name="Chart 71">
            <a:extLst>
              <a:ext uri="{FF2B5EF4-FFF2-40B4-BE49-F238E27FC236}">
                <a16:creationId xmlns:a16="http://schemas.microsoft.com/office/drawing/2014/main" id="{630F3115-6BB4-4846-9F14-BD01A34F8F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1246192"/>
              </p:ext>
            </p:extLst>
          </p:nvPr>
        </p:nvGraphicFramePr>
        <p:xfrm>
          <a:off x="102882" y="5394070"/>
          <a:ext cx="3876683" cy="144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73" name="Chart 72">
            <a:extLst>
              <a:ext uri="{FF2B5EF4-FFF2-40B4-BE49-F238E27FC236}">
                <a16:creationId xmlns:a16="http://schemas.microsoft.com/office/drawing/2014/main" id="{570FC1FC-67B1-4575-A932-E37A182083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41699"/>
              </p:ext>
            </p:extLst>
          </p:nvPr>
        </p:nvGraphicFramePr>
        <p:xfrm>
          <a:off x="5863843" y="4869469"/>
          <a:ext cx="2057400" cy="731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graphicFrame>
        <p:nvGraphicFramePr>
          <p:cNvPr id="74" name="Chart 73">
            <a:extLst>
              <a:ext uri="{FF2B5EF4-FFF2-40B4-BE49-F238E27FC236}">
                <a16:creationId xmlns:a16="http://schemas.microsoft.com/office/drawing/2014/main" id="{D2F85674-92B3-4FB2-8847-B61EDE053D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7862965"/>
              </p:ext>
            </p:extLst>
          </p:nvPr>
        </p:nvGraphicFramePr>
        <p:xfrm>
          <a:off x="4177043" y="5425419"/>
          <a:ext cx="4090040" cy="1340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75" name="Chart 74">
            <a:extLst>
              <a:ext uri="{FF2B5EF4-FFF2-40B4-BE49-F238E27FC236}">
                <a16:creationId xmlns:a16="http://schemas.microsoft.com/office/drawing/2014/main" id="{CD1959A5-81C6-4A6F-8572-5A7F9348A8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0097400"/>
              </p:ext>
            </p:extLst>
          </p:nvPr>
        </p:nvGraphicFramePr>
        <p:xfrm>
          <a:off x="8811923" y="1891916"/>
          <a:ext cx="3216874" cy="1354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76" name="Chart 75">
            <a:extLst>
              <a:ext uri="{FF2B5EF4-FFF2-40B4-BE49-F238E27FC236}">
                <a16:creationId xmlns:a16="http://schemas.microsoft.com/office/drawing/2014/main" id="{756EF56C-9318-4801-968A-661E973585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75627849"/>
              </p:ext>
            </p:extLst>
          </p:nvPr>
        </p:nvGraphicFramePr>
        <p:xfrm>
          <a:off x="8739306" y="4815717"/>
          <a:ext cx="3349812" cy="17170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</p:spTree>
    <p:extLst>
      <p:ext uri="{BB962C8B-B14F-4D97-AF65-F5344CB8AC3E}">
        <p14:creationId xmlns:p14="http://schemas.microsoft.com/office/powerpoint/2010/main" val="3752971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46C5B99FC1A649B1DD4A31F916756A" ma:contentTypeVersion="4" ma:contentTypeDescription="Create a new document." ma:contentTypeScope="" ma:versionID="8fed4a6114afb5bad91f19fe2ff446d9">
  <xsd:schema xmlns:xsd="http://www.w3.org/2001/XMLSchema" xmlns:xs="http://www.w3.org/2001/XMLSchema" xmlns:p="http://schemas.microsoft.com/office/2006/metadata/properties" xmlns:ns3="a52ccb8d-a0dd-4ff7-b279-8401d8e01e08" targetNamespace="http://schemas.microsoft.com/office/2006/metadata/properties" ma:root="true" ma:fieldsID="4c3d505e9032a9c7431ba57d82211d01" ns3:_="">
    <xsd:import namespace="a52ccb8d-a0dd-4ff7-b279-8401d8e01e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2ccb8d-a0dd-4ff7-b279-8401d8e01e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63969C0-3831-4EF0-AEFF-25F20E9319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2ccb8d-a0dd-4ff7-b279-8401d8e01e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C9679B7-BD8A-4799-BA69-3DDAC5EAB23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9F0DD7-4CF4-449E-8B75-7F0801D0CC55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a52ccb8d-a0dd-4ff7-b279-8401d8e01e08"/>
    <ds:schemaRef ds:uri="http://schemas.microsoft.com/office/infopath/2007/PartnerControls"/>
    <ds:schemaRef ds:uri="http://purl.org/dc/dcmitype/"/>
    <ds:schemaRef ds:uri="http://purl.org/dc/terms/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1914</TotalTime>
  <Words>35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Oswald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Khaled Ismail</dc:creator>
  <cp:lastModifiedBy>Md Furquan Afroz</cp:lastModifiedBy>
  <cp:revision>31</cp:revision>
  <dcterms:created xsi:type="dcterms:W3CDTF">2020-06-09T13:18:21Z</dcterms:created>
  <dcterms:modified xsi:type="dcterms:W3CDTF">2026-06-14T10:51:29Z</dcterms:modified>
</cp:coreProperties>
</file>